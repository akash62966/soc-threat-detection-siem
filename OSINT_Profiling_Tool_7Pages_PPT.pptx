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94960" y="640080"/>
            <a:ext cx="1371600" cy="1097280"/>
          </a:xfrm>
          <a:prstGeom prst="rect">
            <a:avLst/>
          </a:prstGeom>
          <a:noFill/>
        </p:spPr>
        <p:txBody>
          <a:bodyPr wrap="square">
            <a:spAutoFit/>
          </a:bodyPr>
          <a:lstStyle/>
          <a:p>
            <a:pPr algn="ctr"/>
            <a:r>
              <a:rPr sz="5000" b="0">
                <a:solidFill>
                  <a:srgbClr val="1E293B"/>
                </a:solidFill>
                <a:latin typeface="Calibri"/>
              </a:rPr>
              <a:t>🛡️</a:t>
            </a:r>
          </a:p>
        </p:txBody>
      </p:sp>
      <p:sp>
        <p:nvSpPr>
          <p:cNvPr id="4" name="TextBox 3"/>
          <p:cNvSpPr txBox="1"/>
          <p:nvPr/>
        </p:nvSpPr>
        <p:spPr>
          <a:xfrm>
            <a:off x="457200" y="1920240"/>
            <a:ext cx="11274552" cy="914400"/>
          </a:xfrm>
          <a:prstGeom prst="rect">
            <a:avLst/>
          </a:prstGeom>
          <a:noFill/>
        </p:spPr>
        <p:txBody>
          <a:bodyPr wrap="square">
            <a:spAutoFit/>
          </a:bodyPr>
          <a:lstStyle/>
          <a:p>
            <a:pPr algn="ctr"/>
            <a:r>
              <a:rPr sz="3600" b="1">
                <a:solidFill>
                  <a:srgbClr val="0F2C59"/>
                </a:solidFill>
                <a:latin typeface="Calibri"/>
              </a:rPr>
              <a:t>Social Media OSINT Profiling Tool</a:t>
            </a:r>
          </a:p>
        </p:txBody>
      </p:sp>
      <p:sp>
        <p:nvSpPr>
          <p:cNvPr id="5" name="TextBox 4"/>
          <p:cNvSpPr txBox="1"/>
          <p:nvPr/>
        </p:nvSpPr>
        <p:spPr>
          <a:xfrm>
            <a:off x="457200" y="2880360"/>
            <a:ext cx="11274552" cy="457200"/>
          </a:xfrm>
          <a:prstGeom prst="rect">
            <a:avLst/>
          </a:prstGeom>
          <a:noFill/>
        </p:spPr>
        <p:txBody>
          <a:bodyPr wrap="square">
            <a:spAutoFit/>
          </a:bodyPr>
          <a:lstStyle/>
          <a:p>
            <a:pPr algn="ctr"/>
            <a:r>
              <a:rPr sz="2000" b="1">
                <a:solidFill>
                  <a:srgbClr val="2563EB"/>
                </a:solidFill>
                <a:latin typeface="Calibri"/>
              </a:rPr>
              <a:t>GitHub Intelligence Web Application</a:t>
            </a:r>
          </a:p>
        </p:txBody>
      </p:sp>
      <p:sp>
        <p:nvSpPr>
          <p:cNvPr id="6" name="Rectangle 5"/>
          <p:cNvSpPr/>
          <p:nvPr/>
        </p:nvSpPr>
        <p:spPr>
          <a:xfrm>
            <a:off x="3657600" y="3566160"/>
            <a:ext cx="4873752"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3840480"/>
            <a:ext cx="11274552" cy="365760"/>
          </a:xfrm>
          <a:prstGeom prst="rect">
            <a:avLst/>
          </a:prstGeom>
          <a:noFill/>
        </p:spPr>
        <p:txBody>
          <a:bodyPr wrap="square">
            <a:spAutoFit/>
          </a:bodyPr>
          <a:lstStyle/>
          <a:p>
            <a:pPr algn="ctr"/>
            <a:r>
              <a:rPr sz="1400" b="0">
                <a:solidFill>
                  <a:srgbClr val="475569"/>
                </a:solidFill>
                <a:latin typeface="Calibri"/>
              </a:rPr>
              <a:t>College Mini Project Presentation</a:t>
            </a:r>
          </a:p>
        </p:txBody>
      </p:sp>
      <p:sp>
        <p:nvSpPr>
          <p:cNvPr id="8" name="TextBox 7"/>
          <p:cNvSpPr txBox="1"/>
          <p:nvPr/>
        </p:nvSpPr>
        <p:spPr>
          <a:xfrm>
            <a:off x="457200" y="4297680"/>
            <a:ext cx="11274552" cy="365760"/>
          </a:xfrm>
          <a:prstGeom prst="rect">
            <a:avLst/>
          </a:prstGeom>
          <a:noFill/>
        </p:spPr>
        <p:txBody>
          <a:bodyPr wrap="square">
            <a:spAutoFit/>
          </a:bodyPr>
          <a:lstStyle/>
          <a:p>
            <a:pPr algn="ctr"/>
            <a:r>
              <a:rPr sz="1300" b="0">
                <a:solidFill>
                  <a:srgbClr val="475569"/>
                </a:solidFill>
                <a:latin typeface="Calibri"/>
              </a:rPr>
              <a:t>Developed with Python, Flask, SQLite, HTML5, CSS3, JavaScript &amp; Bootstrap 5</a:t>
            </a:r>
          </a:p>
        </p:txBody>
      </p:sp>
      <p:sp>
        <p:nvSpPr>
          <p:cNvPr id="9" name="Rectangle 8"/>
          <p:cNvSpPr/>
          <p:nvPr/>
        </p:nvSpPr>
        <p:spPr>
          <a:xfrm>
            <a:off x="1371600" y="5212080"/>
            <a:ext cx="9445752" cy="640080"/>
          </a:xfrm>
          <a:prstGeom prst="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63040" y="5349240"/>
            <a:ext cx="9235440" cy="365760"/>
          </a:xfrm>
          <a:prstGeom prst="rect">
            <a:avLst/>
          </a:prstGeom>
          <a:noFill/>
        </p:spPr>
        <p:txBody>
          <a:bodyPr wrap="square">
            <a:spAutoFit/>
          </a:bodyPr>
          <a:lstStyle/>
          <a:p>
            <a:pPr algn="ctr"/>
            <a:r>
              <a:rPr sz="1100" b="0">
                <a:solidFill>
                  <a:srgbClr val="D97706"/>
                </a:solidFill>
                <a:latin typeface="Calibri"/>
              </a:rPr>
              <a:t>⚠️ Disclaimer: Uses only publicly available GitHub data for educational and research purposes.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6446520"/>
            <a:ext cx="9144000" cy="320040"/>
          </a:xfrm>
          <a:prstGeom prst="rect">
            <a:avLst/>
          </a:prstGeom>
          <a:noFill/>
        </p:spPr>
        <p:txBody>
          <a:bodyPr wrap="square">
            <a:spAutoFit/>
          </a:bodyPr>
          <a:lstStyle/>
          <a:p>
            <a:pPr algn="l"/>
            <a:r>
              <a:rPr sz="1000" b="0">
                <a:solidFill>
                  <a:srgbClr val="475569"/>
                </a:solidFill>
                <a:latin typeface="Calibri"/>
              </a:rPr>
              <a:t>Social Media OSINT Profiling Tool  |  Slide 2 of 7</a:t>
            </a:r>
          </a:p>
        </p:txBody>
      </p:sp>
      <p:sp>
        <p:nvSpPr>
          <p:cNvPr id="4" name="TextBox 3"/>
          <p:cNvSpPr txBox="1"/>
          <p:nvPr/>
        </p:nvSpPr>
        <p:spPr>
          <a:xfrm>
            <a:off x="457200" y="274320"/>
            <a:ext cx="10972800" cy="548640"/>
          </a:xfrm>
          <a:prstGeom prst="rect">
            <a:avLst/>
          </a:prstGeom>
          <a:noFill/>
        </p:spPr>
        <p:txBody>
          <a:bodyPr wrap="square">
            <a:spAutoFit/>
          </a:bodyPr>
          <a:lstStyle/>
          <a:p>
            <a:pPr algn="l"/>
            <a:r>
              <a:rPr sz="2800" b="1">
                <a:solidFill>
                  <a:srgbClr val="0F2C59"/>
                </a:solidFill>
                <a:latin typeface="Calibri"/>
              </a:rPr>
              <a:t>1. Introduction &amp; What is OSINT?</a:t>
            </a:r>
          </a:p>
        </p:txBody>
      </p:sp>
      <p:sp>
        <p:nvSpPr>
          <p:cNvPr id="5" name="Rectangle 4"/>
          <p:cNvSpPr/>
          <p:nvPr/>
        </p:nvSpPr>
        <p:spPr>
          <a:xfrm>
            <a:off x="365760" y="1005840"/>
            <a:ext cx="11457432" cy="1005840"/>
          </a:xfrm>
          <a:prstGeom prst="rect">
            <a:avLst/>
          </a:prstGeom>
          <a:solidFill>
            <a:srgbClr val="EBF5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51560"/>
            <a:ext cx="11064240" cy="914400"/>
          </a:xfrm>
          <a:prstGeom prst="rect">
            <a:avLst/>
          </a:prstGeom>
          <a:noFill/>
        </p:spPr>
        <p:txBody>
          <a:bodyPr wrap="square">
            <a:spAutoFit/>
          </a:bodyPr>
          <a:lstStyle/>
          <a:p>
            <a:pPr algn="l"/>
            <a:r>
              <a:rPr sz="1400" b="0">
                <a:solidFill>
                  <a:srgbClr val="0F2C59"/>
                </a:solidFill>
                <a:latin typeface="Calibri"/>
              </a:rPr>
              <a:t>What is OSINT? (Open Source Intelligence)
OSINT is the process of gathering and analyzing data collected from open, publicly available sources (such as social media profiles, public repositories, and open APIs) without bypassing security controls or violating privacy.</a:t>
            </a:r>
          </a:p>
        </p:txBody>
      </p:sp>
      <p:sp>
        <p:nvSpPr>
          <p:cNvPr id="7" name="Rectangle 6"/>
          <p:cNvSpPr/>
          <p:nvPr/>
        </p:nvSpPr>
        <p:spPr>
          <a:xfrm>
            <a:off x="365760" y="2286000"/>
            <a:ext cx="2651760" cy="3840480"/>
          </a:xfrm>
          <a:prstGeom prst="rect">
            <a:avLst/>
          </a:prstGeom>
          <a:solidFill>
            <a:srgbClr val="FFFFFF"/>
          </a:solidFill>
          <a:ln w="12700">
            <a:solidFill>
              <a:srgbClr val="DB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2286000"/>
            <a:ext cx="2651760" cy="640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468880"/>
            <a:ext cx="2468880" cy="457200"/>
          </a:xfrm>
          <a:prstGeom prst="rect">
            <a:avLst/>
          </a:prstGeom>
          <a:noFill/>
        </p:spPr>
        <p:txBody>
          <a:bodyPr wrap="square">
            <a:spAutoFit/>
          </a:bodyPr>
          <a:lstStyle/>
          <a:p>
            <a:pPr algn="ctr"/>
            <a:r>
              <a:rPr sz="1500" b="1">
                <a:solidFill>
                  <a:srgbClr val="0F2C59"/>
                </a:solidFill>
                <a:latin typeface="Calibri"/>
              </a:rPr>
              <a:t>🌐 Public APIs</a:t>
            </a:r>
          </a:p>
        </p:txBody>
      </p:sp>
      <p:sp>
        <p:nvSpPr>
          <p:cNvPr id="10" name="TextBox 9"/>
          <p:cNvSpPr txBox="1"/>
          <p:nvPr/>
        </p:nvSpPr>
        <p:spPr>
          <a:xfrm>
            <a:off x="502920" y="3108960"/>
            <a:ext cx="2377440" cy="2743200"/>
          </a:xfrm>
          <a:prstGeom prst="rect">
            <a:avLst/>
          </a:prstGeom>
          <a:noFill/>
        </p:spPr>
        <p:txBody>
          <a:bodyPr wrap="square">
            <a:spAutoFit/>
          </a:bodyPr>
          <a:lstStyle/>
          <a:p>
            <a:pPr algn="ctr"/>
            <a:r>
              <a:rPr sz="1200" b="0">
                <a:solidFill>
                  <a:srgbClr val="475569"/>
                </a:solidFill>
                <a:latin typeface="Calibri"/>
              </a:rPr>
              <a:t>Fetches open profile &amp; repo data instantly from GitHub REST API.</a:t>
            </a:r>
          </a:p>
        </p:txBody>
      </p:sp>
      <p:sp>
        <p:nvSpPr>
          <p:cNvPr id="11" name="Rectangle 10"/>
          <p:cNvSpPr/>
          <p:nvPr/>
        </p:nvSpPr>
        <p:spPr>
          <a:xfrm>
            <a:off x="3154680" y="2286000"/>
            <a:ext cx="2651760" cy="3840480"/>
          </a:xfrm>
          <a:prstGeom prst="rect">
            <a:avLst/>
          </a:prstGeom>
          <a:solidFill>
            <a:srgbClr val="FFFFFF"/>
          </a:solidFill>
          <a:ln w="12700">
            <a:solidFill>
              <a:srgbClr val="DB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154680" y="2286000"/>
            <a:ext cx="2651760" cy="640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46120" y="2468880"/>
            <a:ext cx="2468880" cy="457200"/>
          </a:xfrm>
          <a:prstGeom prst="rect">
            <a:avLst/>
          </a:prstGeom>
          <a:noFill/>
        </p:spPr>
        <p:txBody>
          <a:bodyPr wrap="square">
            <a:spAutoFit/>
          </a:bodyPr>
          <a:lstStyle/>
          <a:p>
            <a:pPr algn="ctr"/>
            <a:r>
              <a:rPr sz="1500" b="1">
                <a:solidFill>
                  <a:srgbClr val="0F2C59"/>
                </a:solidFill>
                <a:latin typeface="Calibri"/>
              </a:rPr>
              <a:t>👤 Profile Analysis</a:t>
            </a:r>
          </a:p>
        </p:txBody>
      </p:sp>
      <p:sp>
        <p:nvSpPr>
          <p:cNvPr id="14" name="TextBox 13"/>
          <p:cNvSpPr txBox="1"/>
          <p:nvPr/>
        </p:nvSpPr>
        <p:spPr>
          <a:xfrm>
            <a:off x="3291840" y="3108960"/>
            <a:ext cx="2377440" cy="2743200"/>
          </a:xfrm>
          <a:prstGeom prst="rect">
            <a:avLst/>
          </a:prstGeom>
          <a:noFill/>
        </p:spPr>
        <p:txBody>
          <a:bodyPr wrap="square">
            <a:spAutoFit/>
          </a:bodyPr>
          <a:lstStyle/>
          <a:p>
            <a:pPr algn="ctr"/>
            <a:r>
              <a:rPr sz="1200" b="0">
                <a:solidFill>
                  <a:srgbClr val="475569"/>
                </a:solidFill>
                <a:latin typeface="Calibri"/>
              </a:rPr>
              <a:t>Extracts name, bio, location, followers, and public repos.</a:t>
            </a:r>
          </a:p>
        </p:txBody>
      </p:sp>
      <p:sp>
        <p:nvSpPr>
          <p:cNvPr id="15" name="Rectangle 14"/>
          <p:cNvSpPr/>
          <p:nvPr/>
        </p:nvSpPr>
        <p:spPr>
          <a:xfrm>
            <a:off x="5943600" y="2286000"/>
            <a:ext cx="2651760" cy="3840480"/>
          </a:xfrm>
          <a:prstGeom prst="rect">
            <a:avLst/>
          </a:prstGeom>
          <a:solidFill>
            <a:srgbClr val="FFFFFF"/>
          </a:solidFill>
          <a:ln w="12700">
            <a:solidFill>
              <a:srgbClr val="DB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0" y="2286000"/>
            <a:ext cx="2651760" cy="640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40" y="2468880"/>
            <a:ext cx="2468880" cy="457200"/>
          </a:xfrm>
          <a:prstGeom prst="rect">
            <a:avLst/>
          </a:prstGeom>
          <a:noFill/>
        </p:spPr>
        <p:txBody>
          <a:bodyPr wrap="square">
            <a:spAutoFit/>
          </a:bodyPr>
          <a:lstStyle/>
          <a:p>
            <a:pPr algn="ctr"/>
            <a:r>
              <a:rPr sz="1500" b="1">
                <a:solidFill>
                  <a:srgbClr val="0F2C59"/>
                </a:solidFill>
                <a:latin typeface="Calibri"/>
              </a:rPr>
              <a:t>📄 Report Generation</a:t>
            </a:r>
          </a:p>
        </p:txBody>
      </p:sp>
      <p:sp>
        <p:nvSpPr>
          <p:cNvPr id="18" name="TextBox 17"/>
          <p:cNvSpPr txBox="1"/>
          <p:nvPr/>
        </p:nvSpPr>
        <p:spPr>
          <a:xfrm>
            <a:off x="6080760" y="3108960"/>
            <a:ext cx="2377440" cy="2743200"/>
          </a:xfrm>
          <a:prstGeom prst="rect">
            <a:avLst/>
          </a:prstGeom>
          <a:noFill/>
        </p:spPr>
        <p:txBody>
          <a:bodyPr wrap="square">
            <a:spAutoFit/>
          </a:bodyPr>
          <a:lstStyle/>
          <a:p>
            <a:pPr algn="ctr"/>
            <a:r>
              <a:rPr sz="1200" b="0">
                <a:solidFill>
                  <a:srgbClr val="475569"/>
                </a:solidFill>
                <a:latin typeface="Calibri"/>
              </a:rPr>
              <a:t>Generates exportable PDF OSINT intelligence reports.</a:t>
            </a:r>
          </a:p>
        </p:txBody>
      </p:sp>
      <p:sp>
        <p:nvSpPr>
          <p:cNvPr id="19" name="Rectangle 18"/>
          <p:cNvSpPr/>
          <p:nvPr/>
        </p:nvSpPr>
        <p:spPr>
          <a:xfrm>
            <a:off x="8732520" y="2286000"/>
            <a:ext cx="2651760" cy="3840480"/>
          </a:xfrm>
          <a:prstGeom prst="rect">
            <a:avLst/>
          </a:prstGeom>
          <a:solidFill>
            <a:srgbClr val="FFFFFF"/>
          </a:solidFill>
          <a:ln w="12700">
            <a:solidFill>
              <a:srgbClr val="DB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732520" y="2286000"/>
            <a:ext cx="2651760" cy="640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23960" y="2468880"/>
            <a:ext cx="2468880" cy="457200"/>
          </a:xfrm>
          <a:prstGeom prst="rect">
            <a:avLst/>
          </a:prstGeom>
          <a:noFill/>
        </p:spPr>
        <p:txBody>
          <a:bodyPr wrap="square">
            <a:spAutoFit/>
          </a:bodyPr>
          <a:lstStyle/>
          <a:p>
            <a:pPr algn="ctr"/>
            <a:r>
              <a:rPr sz="1500" b="1">
                <a:solidFill>
                  <a:srgbClr val="0F2C59"/>
                </a:solidFill>
                <a:latin typeface="Calibri"/>
              </a:rPr>
              <a:t>🗃️ Local History</a:t>
            </a:r>
          </a:p>
        </p:txBody>
      </p:sp>
      <p:sp>
        <p:nvSpPr>
          <p:cNvPr id="22" name="TextBox 21"/>
          <p:cNvSpPr txBox="1"/>
          <p:nvPr/>
        </p:nvSpPr>
        <p:spPr>
          <a:xfrm>
            <a:off x="8869680" y="3108960"/>
            <a:ext cx="2377440" cy="2743200"/>
          </a:xfrm>
          <a:prstGeom prst="rect">
            <a:avLst/>
          </a:prstGeom>
          <a:noFill/>
        </p:spPr>
        <p:txBody>
          <a:bodyPr wrap="square">
            <a:spAutoFit/>
          </a:bodyPr>
          <a:lstStyle/>
          <a:p>
            <a:pPr algn="ctr"/>
            <a:r>
              <a:rPr sz="1200" b="0">
                <a:solidFill>
                  <a:srgbClr val="475569"/>
                </a:solidFill>
                <a:latin typeface="Calibri"/>
              </a:rPr>
              <a:t>Saves past searches in SQLite database for history tracking.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6446520"/>
            <a:ext cx="9144000" cy="320040"/>
          </a:xfrm>
          <a:prstGeom prst="rect">
            <a:avLst/>
          </a:prstGeom>
          <a:noFill/>
        </p:spPr>
        <p:txBody>
          <a:bodyPr wrap="square">
            <a:spAutoFit/>
          </a:bodyPr>
          <a:lstStyle/>
          <a:p>
            <a:pPr algn="l"/>
            <a:r>
              <a:rPr sz="1000" b="0">
                <a:solidFill>
                  <a:srgbClr val="475569"/>
                </a:solidFill>
                <a:latin typeface="Calibri"/>
              </a:rPr>
              <a:t>Social Media OSINT Profiling Tool  |  Slide 3 of 7</a:t>
            </a:r>
          </a:p>
        </p:txBody>
      </p:sp>
      <p:sp>
        <p:nvSpPr>
          <p:cNvPr id="4" name="TextBox 3"/>
          <p:cNvSpPr txBox="1"/>
          <p:nvPr/>
        </p:nvSpPr>
        <p:spPr>
          <a:xfrm>
            <a:off x="457200" y="274320"/>
            <a:ext cx="10972800" cy="548640"/>
          </a:xfrm>
          <a:prstGeom prst="rect">
            <a:avLst/>
          </a:prstGeom>
          <a:noFill/>
        </p:spPr>
        <p:txBody>
          <a:bodyPr wrap="square">
            <a:spAutoFit/>
          </a:bodyPr>
          <a:lstStyle/>
          <a:p>
            <a:pPr algn="l"/>
            <a:r>
              <a:rPr sz="2800" b="1">
                <a:solidFill>
                  <a:srgbClr val="0F2C59"/>
                </a:solidFill>
                <a:latin typeface="Calibri"/>
              </a:rPr>
              <a:t>2. Problem Statement &amp; Project Objectives</a:t>
            </a:r>
          </a:p>
        </p:txBody>
      </p:sp>
      <p:sp>
        <p:nvSpPr>
          <p:cNvPr id="5" name="Rectangle 4"/>
          <p:cNvSpPr/>
          <p:nvPr/>
        </p:nvSpPr>
        <p:spPr>
          <a:xfrm>
            <a:off x="365760" y="1005840"/>
            <a:ext cx="5486400" cy="5120640"/>
          </a:xfrm>
          <a:prstGeom prst="rect">
            <a:avLst/>
          </a:prstGeom>
          <a:solidFill>
            <a:srgbClr val="FFFFFF"/>
          </a:solidFill>
          <a:ln w="12700">
            <a:solidFill>
              <a:srgbClr val="DB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005840"/>
            <a:ext cx="5486400" cy="64008"/>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188720"/>
            <a:ext cx="5029200" cy="365760"/>
          </a:xfrm>
          <a:prstGeom prst="rect">
            <a:avLst/>
          </a:prstGeom>
          <a:noFill/>
        </p:spPr>
        <p:txBody>
          <a:bodyPr wrap="square">
            <a:spAutoFit/>
          </a:bodyPr>
          <a:lstStyle/>
          <a:p>
            <a:pPr algn="l"/>
            <a:r>
              <a:rPr sz="1600" b="1">
                <a:solidFill>
                  <a:srgbClr val="DC2626"/>
                </a:solidFill>
                <a:latin typeface="Calibri"/>
              </a:rPr>
              <a:t>❌ The Problem Statement</a:t>
            </a:r>
          </a:p>
        </p:txBody>
      </p:sp>
      <p:sp>
        <p:nvSpPr>
          <p:cNvPr id="8" name="TextBox 7"/>
          <p:cNvSpPr txBox="1"/>
          <p:nvPr/>
        </p:nvSpPr>
        <p:spPr>
          <a:xfrm>
            <a:off x="365760" y="1691640"/>
            <a:ext cx="5486400" cy="4206240"/>
          </a:xfrm>
          <a:prstGeom prst="rect">
            <a:avLst/>
          </a:prstGeom>
          <a:noFill/>
        </p:spPr>
        <p:txBody>
          <a:bodyPr wrap="square">
            <a:spAutoFit/>
          </a:bodyPr>
          <a:lstStyle/>
          <a:p/>
          <a:p>
            <a:pPr algn="l">
              <a:spcBef>
                <a:spcPts val="600"/>
              </a:spcBef>
            </a:pPr>
            <a:r>
              <a:rPr sz="1300">
                <a:solidFill>
                  <a:srgbClr val="1E293B"/>
                </a:solidFill>
                <a:latin typeface="Calibri"/>
              </a:rPr>
              <a:t>  •  Manual checking of developer profiles across GitHub is slow and inefficient.</a:t>
            </a:r>
          </a:p>
          <a:p>
            <a:pPr algn="l">
              <a:spcBef>
                <a:spcPts val="600"/>
              </a:spcBef>
            </a:pPr>
            <a:r>
              <a:rPr sz="1300">
                <a:solidFill>
                  <a:srgbClr val="1E293B"/>
                </a:solidFill>
                <a:latin typeface="Calibri"/>
              </a:rPr>
              <a:t>  •  No quick way to export structured profile intelligence into formal reports.</a:t>
            </a:r>
          </a:p>
          <a:p>
            <a:pPr algn="l">
              <a:spcBef>
                <a:spcPts val="600"/>
              </a:spcBef>
            </a:pPr>
            <a:r>
              <a:rPr sz="1300">
                <a:solidFill>
                  <a:srgbClr val="1E293B"/>
                </a:solidFill>
                <a:latin typeface="Calibri"/>
              </a:rPr>
              <a:t>  •  Need a lightweight tool that gathers public profile stats without requiring API keys, user login, or paid subscriptions.</a:t>
            </a:r>
          </a:p>
          <a:p>
            <a:pPr algn="l">
              <a:spcBef>
                <a:spcPts val="600"/>
              </a:spcBef>
            </a:pPr>
            <a:r>
              <a:rPr sz="1300">
                <a:solidFill>
                  <a:srgbClr val="1E293B"/>
                </a:solidFill>
                <a:latin typeface="Calibri"/>
              </a:rPr>
              <a:t>  •  Must be 100% legal, ethical, and beginner-friendly for college viva presentation.</a:t>
            </a:r>
          </a:p>
        </p:txBody>
      </p:sp>
      <p:sp>
        <p:nvSpPr>
          <p:cNvPr id="9" name="Rectangle 8"/>
          <p:cNvSpPr/>
          <p:nvPr/>
        </p:nvSpPr>
        <p:spPr>
          <a:xfrm>
            <a:off x="6126480" y="1005840"/>
            <a:ext cx="5669280" cy="5120640"/>
          </a:xfrm>
          <a:prstGeom prst="rect">
            <a:avLst/>
          </a:prstGeom>
          <a:solidFill>
            <a:srgbClr val="FFFFFF"/>
          </a:solidFill>
          <a:ln w="12700">
            <a:solidFill>
              <a:srgbClr val="DB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0" y="1005840"/>
            <a:ext cx="5669280" cy="6400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188720"/>
            <a:ext cx="5212080" cy="365760"/>
          </a:xfrm>
          <a:prstGeom prst="rect">
            <a:avLst/>
          </a:prstGeom>
          <a:noFill/>
        </p:spPr>
        <p:txBody>
          <a:bodyPr wrap="square">
            <a:spAutoFit/>
          </a:bodyPr>
          <a:lstStyle/>
          <a:p>
            <a:pPr algn="l"/>
            <a:r>
              <a:rPr sz="1600" b="1">
                <a:solidFill>
                  <a:srgbClr val="059669"/>
                </a:solidFill>
                <a:latin typeface="Calibri"/>
              </a:rPr>
              <a:t>🎯 Key Project Objectives</a:t>
            </a:r>
          </a:p>
        </p:txBody>
      </p:sp>
      <p:sp>
        <p:nvSpPr>
          <p:cNvPr id="12" name="TextBox 11"/>
          <p:cNvSpPr txBox="1"/>
          <p:nvPr/>
        </p:nvSpPr>
        <p:spPr>
          <a:xfrm>
            <a:off x="6126480" y="1691640"/>
            <a:ext cx="5669280" cy="4206240"/>
          </a:xfrm>
          <a:prstGeom prst="rect">
            <a:avLst/>
          </a:prstGeom>
          <a:noFill/>
        </p:spPr>
        <p:txBody>
          <a:bodyPr wrap="square">
            <a:spAutoFit/>
          </a:bodyPr>
          <a:lstStyle/>
          <a:p/>
          <a:p>
            <a:pPr algn="l">
              <a:spcBef>
                <a:spcPts val="600"/>
              </a:spcBef>
            </a:pPr>
            <a:r>
              <a:rPr sz="1300">
                <a:solidFill>
                  <a:srgbClr val="1E293B"/>
                </a:solidFill>
                <a:latin typeface="Calibri"/>
              </a:rPr>
              <a:t>  •  Build a modern clean web app using Python Flask.</a:t>
            </a:r>
          </a:p>
          <a:p>
            <a:pPr algn="l">
              <a:spcBef>
                <a:spcPts val="600"/>
              </a:spcBef>
            </a:pPr>
            <a:r>
              <a:rPr sz="1300">
                <a:solidFill>
                  <a:srgbClr val="1E293B"/>
                </a:solidFill>
                <a:latin typeface="Calibri"/>
              </a:rPr>
              <a:t>  •  Fetch public user data (bio, location, repos, followers) via GitHub API.</a:t>
            </a:r>
          </a:p>
          <a:p>
            <a:pPr algn="l">
              <a:spcBef>
                <a:spcPts val="600"/>
              </a:spcBef>
            </a:pPr>
            <a:r>
              <a:rPr sz="1300">
                <a:solidFill>
                  <a:srgbClr val="1E293B"/>
                </a:solidFill>
                <a:latin typeface="Calibri"/>
              </a:rPr>
              <a:t>  •  Display top 10 public repos sorted by star count.</a:t>
            </a:r>
          </a:p>
          <a:p>
            <a:pPr algn="l">
              <a:spcBef>
                <a:spcPts val="600"/>
              </a:spcBef>
            </a:pPr>
            <a:r>
              <a:rPr sz="1300">
                <a:solidFill>
                  <a:srgbClr val="1E293B"/>
                </a:solidFill>
                <a:latin typeface="Calibri"/>
              </a:rPr>
              <a:t>  •  Log every search with timestamps into an SQLite database.</a:t>
            </a:r>
          </a:p>
          <a:p>
            <a:pPr algn="l">
              <a:spcBef>
                <a:spcPts val="600"/>
              </a:spcBef>
            </a:pPr>
            <a:r>
              <a:rPr sz="1300">
                <a:solidFill>
                  <a:srgbClr val="1E293B"/>
                </a:solidFill>
                <a:latin typeface="Calibri"/>
              </a:rPr>
              <a:t>  •  Provide a 1-click downloadable PDF OSINT report using ReportLab.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6446520"/>
            <a:ext cx="9144000" cy="320040"/>
          </a:xfrm>
          <a:prstGeom prst="rect">
            <a:avLst/>
          </a:prstGeom>
          <a:noFill/>
        </p:spPr>
        <p:txBody>
          <a:bodyPr wrap="square">
            <a:spAutoFit/>
          </a:bodyPr>
          <a:lstStyle/>
          <a:p>
            <a:pPr algn="l"/>
            <a:r>
              <a:rPr sz="1000" b="0">
                <a:solidFill>
                  <a:srgbClr val="475569"/>
                </a:solidFill>
                <a:latin typeface="Calibri"/>
              </a:rPr>
              <a:t>Social Media OSINT Profiling Tool  |  Slide 4 of 7</a:t>
            </a:r>
          </a:p>
        </p:txBody>
      </p:sp>
      <p:sp>
        <p:nvSpPr>
          <p:cNvPr id="4" name="TextBox 3"/>
          <p:cNvSpPr txBox="1"/>
          <p:nvPr/>
        </p:nvSpPr>
        <p:spPr>
          <a:xfrm>
            <a:off x="457200" y="274320"/>
            <a:ext cx="10972800" cy="548640"/>
          </a:xfrm>
          <a:prstGeom prst="rect">
            <a:avLst/>
          </a:prstGeom>
          <a:noFill/>
        </p:spPr>
        <p:txBody>
          <a:bodyPr wrap="square">
            <a:spAutoFit/>
          </a:bodyPr>
          <a:lstStyle/>
          <a:p>
            <a:pPr algn="l"/>
            <a:r>
              <a:rPr sz="2800" b="1">
                <a:solidFill>
                  <a:srgbClr val="0F2C59"/>
                </a:solidFill>
                <a:latin typeface="Calibri"/>
              </a:rPr>
              <a:t>3. System Architecture &amp; Tech Stack</a:t>
            </a:r>
          </a:p>
        </p:txBody>
      </p:sp>
      <p:sp>
        <p:nvSpPr>
          <p:cNvPr id="5" name="Rectangle 4"/>
          <p:cNvSpPr/>
          <p:nvPr/>
        </p:nvSpPr>
        <p:spPr>
          <a:xfrm>
            <a:off x="365760" y="1005840"/>
            <a:ext cx="3566160" cy="2011680"/>
          </a:xfrm>
          <a:prstGeom prst="rect">
            <a:avLst/>
          </a:prstGeom>
          <a:solidFill>
            <a:srgbClr val="FFFFFF"/>
          </a:solidFill>
          <a:ln w="12700">
            <a:solidFill>
              <a:srgbClr val="DB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005840"/>
            <a:ext cx="3566160" cy="640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188720"/>
            <a:ext cx="3291840" cy="457200"/>
          </a:xfrm>
          <a:prstGeom prst="rect">
            <a:avLst/>
          </a:prstGeom>
          <a:noFill/>
        </p:spPr>
        <p:txBody>
          <a:bodyPr wrap="square">
            <a:spAutoFit/>
          </a:bodyPr>
          <a:lstStyle/>
          <a:p>
            <a:pPr algn="l"/>
            <a:r>
              <a:rPr sz="1600" b="1">
                <a:solidFill>
                  <a:srgbClr val="0F2C59"/>
                </a:solidFill>
                <a:latin typeface="Calibri"/>
              </a:rPr>
              <a:t>🐍 Python 3</a:t>
            </a:r>
          </a:p>
        </p:txBody>
      </p:sp>
      <p:sp>
        <p:nvSpPr>
          <p:cNvPr id="8" name="TextBox 7"/>
          <p:cNvSpPr txBox="1"/>
          <p:nvPr/>
        </p:nvSpPr>
        <p:spPr>
          <a:xfrm>
            <a:off x="502920" y="1737360"/>
            <a:ext cx="3291840" cy="1097280"/>
          </a:xfrm>
          <a:prstGeom prst="rect">
            <a:avLst/>
          </a:prstGeom>
          <a:noFill/>
        </p:spPr>
        <p:txBody>
          <a:bodyPr wrap="square">
            <a:spAutoFit/>
          </a:bodyPr>
          <a:lstStyle/>
          <a:p>
            <a:pPr algn="l"/>
            <a:r>
              <a:rPr sz="1200" b="0">
                <a:solidFill>
                  <a:srgbClr val="475569"/>
                </a:solidFill>
                <a:latin typeface="Calibri"/>
              </a:rPr>
              <a:t>Backend programming language for server logic.</a:t>
            </a:r>
          </a:p>
        </p:txBody>
      </p:sp>
      <p:sp>
        <p:nvSpPr>
          <p:cNvPr id="9" name="Rectangle 8"/>
          <p:cNvSpPr/>
          <p:nvPr/>
        </p:nvSpPr>
        <p:spPr>
          <a:xfrm>
            <a:off x="4251960" y="1005840"/>
            <a:ext cx="3566160" cy="2011680"/>
          </a:xfrm>
          <a:prstGeom prst="rect">
            <a:avLst/>
          </a:prstGeom>
          <a:solidFill>
            <a:srgbClr val="FFFFFF"/>
          </a:solidFill>
          <a:ln w="12700">
            <a:solidFill>
              <a:srgbClr val="DB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51960" y="1005840"/>
            <a:ext cx="3566160" cy="640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0" y="1188720"/>
            <a:ext cx="3291840" cy="457200"/>
          </a:xfrm>
          <a:prstGeom prst="rect">
            <a:avLst/>
          </a:prstGeom>
          <a:noFill/>
        </p:spPr>
        <p:txBody>
          <a:bodyPr wrap="square">
            <a:spAutoFit/>
          </a:bodyPr>
          <a:lstStyle/>
          <a:p>
            <a:pPr algn="l"/>
            <a:r>
              <a:rPr sz="1600" b="1">
                <a:solidFill>
                  <a:srgbClr val="0F2C59"/>
                </a:solidFill>
                <a:latin typeface="Calibri"/>
              </a:rPr>
              <a:t>🌶️ Flask Framework</a:t>
            </a:r>
          </a:p>
        </p:txBody>
      </p:sp>
      <p:sp>
        <p:nvSpPr>
          <p:cNvPr id="12" name="TextBox 11"/>
          <p:cNvSpPr txBox="1"/>
          <p:nvPr/>
        </p:nvSpPr>
        <p:spPr>
          <a:xfrm>
            <a:off x="4389120" y="1737360"/>
            <a:ext cx="3291840" cy="1097280"/>
          </a:xfrm>
          <a:prstGeom prst="rect">
            <a:avLst/>
          </a:prstGeom>
          <a:noFill/>
        </p:spPr>
        <p:txBody>
          <a:bodyPr wrap="square">
            <a:spAutoFit/>
          </a:bodyPr>
          <a:lstStyle/>
          <a:p>
            <a:pPr algn="l"/>
            <a:r>
              <a:rPr sz="1200" b="0">
                <a:solidFill>
                  <a:srgbClr val="475569"/>
                </a:solidFill>
                <a:latin typeface="Calibri"/>
              </a:rPr>
              <a:t>Lightweight web framework handling routes &amp; API endpoints.</a:t>
            </a:r>
          </a:p>
        </p:txBody>
      </p:sp>
      <p:sp>
        <p:nvSpPr>
          <p:cNvPr id="13" name="Rectangle 12"/>
          <p:cNvSpPr/>
          <p:nvPr/>
        </p:nvSpPr>
        <p:spPr>
          <a:xfrm>
            <a:off x="8138160" y="1005840"/>
            <a:ext cx="3566160" cy="2011680"/>
          </a:xfrm>
          <a:prstGeom prst="rect">
            <a:avLst/>
          </a:prstGeom>
          <a:solidFill>
            <a:srgbClr val="FFFFFF"/>
          </a:solidFill>
          <a:ln w="12700">
            <a:solidFill>
              <a:srgbClr val="DB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60" y="1005840"/>
            <a:ext cx="3566160" cy="640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1188720"/>
            <a:ext cx="3291840" cy="457200"/>
          </a:xfrm>
          <a:prstGeom prst="rect">
            <a:avLst/>
          </a:prstGeom>
          <a:noFill/>
        </p:spPr>
        <p:txBody>
          <a:bodyPr wrap="square">
            <a:spAutoFit/>
          </a:bodyPr>
          <a:lstStyle/>
          <a:p>
            <a:pPr algn="l"/>
            <a:r>
              <a:rPr sz="1600" b="1">
                <a:solidFill>
                  <a:srgbClr val="0F2C59"/>
                </a:solidFill>
                <a:latin typeface="Calibri"/>
              </a:rPr>
              <a:t>🌐 GitHub REST API v3</a:t>
            </a:r>
          </a:p>
        </p:txBody>
      </p:sp>
      <p:sp>
        <p:nvSpPr>
          <p:cNvPr id="16" name="TextBox 15"/>
          <p:cNvSpPr txBox="1"/>
          <p:nvPr/>
        </p:nvSpPr>
        <p:spPr>
          <a:xfrm>
            <a:off x="8275320" y="1737360"/>
            <a:ext cx="3291840" cy="1097280"/>
          </a:xfrm>
          <a:prstGeom prst="rect">
            <a:avLst/>
          </a:prstGeom>
          <a:noFill/>
        </p:spPr>
        <p:txBody>
          <a:bodyPr wrap="square">
            <a:spAutoFit/>
          </a:bodyPr>
          <a:lstStyle/>
          <a:p>
            <a:pPr algn="l"/>
            <a:r>
              <a:rPr sz="1200" b="0">
                <a:solidFill>
                  <a:srgbClr val="475569"/>
                </a:solidFill>
                <a:latin typeface="Calibri"/>
              </a:rPr>
              <a:t>Official public API providing open profile data.</a:t>
            </a:r>
          </a:p>
        </p:txBody>
      </p:sp>
      <p:sp>
        <p:nvSpPr>
          <p:cNvPr id="17" name="Rectangle 16"/>
          <p:cNvSpPr/>
          <p:nvPr/>
        </p:nvSpPr>
        <p:spPr>
          <a:xfrm>
            <a:off x="365760" y="3383280"/>
            <a:ext cx="3566160" cy="2011680"/>
          </a:xfrm>
          <a:prstGeom prst="rect">
            <a:avLst/>
          </a:prstGeom>
          <a:solidFill>
            <a:srgbClr val="FFFFFF"/>
          </a:solidFill>
          <a:ln w="12700">
            <a:solidFill>
              <a:srgbClr val="DB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5760" y="3383280"/>
            <a:ext cx="3566160" cy="640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3566160"/>
            <a:ext cx="3291840" cy="457200"/>
          </a:xfrm>
          <a:prstGeom prst="rect">
            <a:avLst/>
          </a:prstGeom>
          <a:noFill/>
        </p:spPr>
        <p:txBody>
          <a:bodyPr wrap="square">
            <a:spAutoFit/>
          </a:bodyPr>
          <a:lstStyle/>
          <a:p>
            <a:pPr algn="l"/>
            <a:r>
              <a:rPr sz="1600" b="1">
                <a:solidFill>
                  <a:srgbClr val="0F2C59"/>
                </a:solidFill>
                <a:latin typeface="Calibri"/>
              </a:rPr>
              <a:t>🗃️ SQLite Database</a:t>
            </a:r>
          </a:p>
        </p:txBody>
      </p:sp>
      <p:sp>
        <p:nvSpPr>
          <p:cNvPr id="20" name="TextBox 19"/>
          <p:cNvSpPr txBox="1"/>
          <p:nvPr/>
        </p:nvSpPr>
        <p:spPr>
          <a:xfrm>
            <a:off x="502920" y="4114800"/>
            <a:ext cx="3291840" cy="1097280"/>
          </a:xfrm>
          <a:prstGeom prst="rect">
            <a:avLst/>
          </a:prstGeom>
          <a:noFill/>
        </p:spPr>
        <p:txBody>
          <a:bodyPr wrap="square">
            <a:spAutoFit/>
          </a:bodyPr>
          <a:lstStyle/>
          <a:p>
            <a:pPr algn="l"/>
            <a:r>
              <a:rPr sz="1200" b="0">
                <a:solidFill>
                  <a:srgbClr val="475569"/>
                </a:solidFill>
                <a:latin typeface="Calibri"/>
              </a:rPr>
              <a:t>Embedded database saving search history (osint_history.db).</a:t>
            </a:r>
          </a:p>
        </p:txBody>
      </p:sp>
      <p:sp>
        <p:nvSpPr>
          <p:cNvPr id="21" name="Rectangle 20"/>
          <p:cNvSpPr/>
          <p:nvPr/>
        </p:nvSpPr>
        <p:spPr>
          <a:xfrm>
            <a:off x="4251960" y="3383280"/>
            <a:ext cx="3566160" cy="2011680"/>
          </a:xfrm>
          <a:prstGeom prst="rect">
            <a:avLst/>
          </a:prstGeom>
          <a:solidFill>
            <a:srgbClr val="FFFFFF"/>
          </a:solidFill>
          <a:ln w="12700">
            <a:solidFill>
              <a:srgbClr val="DB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51960" y="3383280"/>
            <a:ext cx="3566160" cy="640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89120" y="3566160"/>
            <a:ext cx="3291840" cy="457200"/>
          </a:xfrm>
          <a:prstGeom prst="rect">
            <a:avLst/>
          </a:prstGeom>
          <a:noFill/>
        </p:spPr>
        <p:txBody>
          <a:bodyPr wrap="square">
            <a:spAutoFit/>
          </a:bodyPr>
          <a:lstStyle/>
          <a:p>
            <a:pPr algn="l"/>
            <a:r>
              <a:rPr sz="1600" b="1">
                <a:solidFill>
                  <a:srgbClr val="0F2C59"/>
                </a:solidFill>
                <a:latin typeface="Calibri"/>
              </a:rPr>
              <a:t>📄 ReportLab</a:t>
            </a:r>
          </a:p>
        </p:txBody>
      </p:sp>
      <p:sp>
        <p:nvSpPr>
          <p:cNvPr id="24" name="TextBox 23"/>
          <p:cNvSpPr txBox="1"/>
          <p:nvPr/>
        </p:nvSpPr>
        <p:spPr>
          <a:xfrm>
            <a:off x="4389120" y="4114800"/>
            <a:ext cx="3291840" cy="1097280"/>
          </a:xfrm>
          <a:prstGeom prst="rect">
            <a:avLst/>
          </a:prstGeom>
          <a:noFill/>
        </p:spPr>
        <p:txBody>
          <a:bodyPr wrap="square">
            <a:spAutoFit/>
          </a:bodyPr>
          <a:lstStyle/>
          <a:p>
            <a:pPr algn="l"/>
            <a:r>
              <a:rPr sz="1200" b="0">
                <a:solidFill>
                  <a:srgbClr val="475569"/>
                </a:solidFill>
                <a:latin typeface="Calibri"/>
              </a:rPr>
              <a:t>Python library generating dynamic downloadable PDF reports.</a:t>
            </a:r>
          </a:p>
        </p:txBody>
      </p:sp>
      <p:sp>
        <p:nvSpPr>
          <p:cNvPr id="25" name="Rectangle 24"/>
          <p:cNvSpPr/>
          <p:nvPr/>
        </p:nvSpPr>
        <p:spPr>
          <a:xfrm>
            <a:off x="8138160" y="3383280"/>
            <a:ext cx="3566160" cy="2011680"/>
          </a:xfrm>
          <a:prstGeom prst="rect">
            <a:avLst/>
          </a:prstGeom>
          <a:solidFill>
            <a:srgbClr val="FFFFFF"/>
          </a:solidFill>
          <a:ln w="12700">
            <a:solidFill>
              <a:srgbClr val="DB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38160" y="3383280"/>
            <a:ext cx="3566160" cy="640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320" y="3566160"/>
            <a:ext cx="3291840" cy="457200"/>
          </a:xfrm>
          <a:prstGeom prst="rect">
            <a:avLst/>
          </a:prstGeom>
          <a:noFill/>
        </p:spPr>
        <p:txBody>
          <a:bodyPr wrap="square">
            <a:spAutoFit/>
          </a:bodyPr>
          <a:lstStyle/>
          <a:p>
            <a:pPr algn="l"/>
            <a:r>
              <a:rPr sz="1600" b="1">
                <a:solidFill>
                  <a:srgbClr val="0F2C59"/>
                </a:solidFill>
                <a:latin typeface="Calibri"/>
              </a:rPr>
              <a:t>🎨 HTML5 / CSS3 / JS</a:t>
            </a:r>
          </a:p>
        </p:txBody>
      </p:sp>
      <p:sp>
        <p:nvSpPr>
          <p:cNvPr id="28" name="TextBox 27"/>
          <p:cNvSpPr txBox="1"/>
          <p:nvPr/>
        </p:nvSpPr>
        <p:spPr>
          <a:xfrm>
            <a:off x="8275320" y="4114800"/>
            <a:ext cx="3291840" cy="1097280"/>
          </a:xfrm>
          <a:prstGeom prst="rect">
            <a:avLst/>
          </a:prstGeom>
          <a:noFill/>
        </p:spPr>
        <p:txBody>
          <a:bodyPr wrap="square">
            <a:spAutoFit/>
          </a:bodyPr>
          <a:lstStyle/>
          <a:p>
            <a:pPr algn="l"/>
            <a:r>
              <a:rPr sz="1200" b="0">
                <a:solidFill>
                  <a:srgbClr val="475569"/>
                </a:solidFill>
                <a:latin typeface="Calibri"/>
              </a:rPr>
              <a:t>Bootstrap 5 modern responsive frontend interface.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6446520"/>
            <a:ext cx="9144000" cy="320040"/>
          </a:xfrm>
          <a:prstGeom prst="rect">
            <a:avLst/>
          </a:prstGeom>
          <a:noFill/>
        </p:spPr>
        <p:txBody>
          <a:bodyPr wrap="square">
            <a:spAutoFit/>
          </a:bodyPr>
          <a:lstStyle/>
          <a:p>
            <a:pPr algn="l"/>
            <a:r>
              <a:rPr sz="1000" b="0">
                <a:solidFill>
                  <a:srgbClr val="475569"/>
                </a:solidFill>
                <a:latin typeface="Calibri"/>
              </a:rPr>
              <a:t>Social Media OSINT Profiling Tool  |  Slide 5 of 7</a:t>
            </a:r>
          </a:p>
        </p:txBody>
      </p:sp>
      <p:sp>
        <p:nvSpPr>
          <p:cNvPr id="4" name="TextBox 3"/>
          <p:cNvSpPr txBox="1"/>
          <p:nvPr/>
        </p:nvSpPr>
        <p:spPr>
          <a:xfrm>
            <a:off x="457200" y="274320"/>
            <a:ext cx="10972800" cy="548640"/>
          </a:xfrm>
          <a:prstGeom prst="rect">
            <a:avLst/>
          </a:prstGeom>
          <a:noFill/>
        </p:spPr>
        <p:txBody>
          <a:bodyPr wrap="square">
            <a:spAutoFit/>
          </a:bodyPr>
          <a:lstStyle/>
          <a:p>
            <a:pPr algn="l"/>
            <a:r>
              <a:rPr sz="2800" b="1">
                <a:solidFill>
                  <a:srgbClr val="0F2C59"/>
                </a:solidFill>
                <a:latin typeface="Calibri"/>
              </a:rPr>
              <a:t>4. Key Features of the Tool</a:t>
            </a:r>
          </a:p>
        </p:txBody>
      </p:sp>
      <p:sp>
        <p:nvSpPr>
          <p:cNvPr id="5" name="Rectangle 4"/>
          <p:cNvSpPr/>
          <p:nvPr/>
        </p:nvSpPr>
        <p:spPr>
          <a:xfrm>
            <a:off x="365760" y="1005840"/>
            <a:ext cx="5486400" cy="1463040"/>
          </a:xfrm>
          <a:prstGeom prst="rect">
            <a:avLst/>
          </a:prstGeom>
          <a:solidFill>
            <a:srgbClr val="FFFFFF"/>
          </a:solidFill>
          <a:ln w="12700">
            <a:solidFill>
              <a:srgbClr val="DB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005840"/>
            <a:ext cx="5486400" cy="6400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143000"/>
            <a:ext cx="5120640" cy="365760"/>
          </a:xfrm>
          <a:prstGeom prst="rect">
            <a:avLst/>
          </a:prstGeom>
          <a:noFill/>
        </p:spPr>
        <p:txBody>
          <a:bodyPr wrap="square">
            <a:spAutoFit/>
          </a:bodyPr>
          <a:lstStyle/>
          <a:p>
            <a:pPr algn="l"/>
            <a:r>
              <a:rPr sz="1500" b="1">
                <a:solidFill>
                  <a:srgbClr val="0F2C59"/>
                </a:solidFill>
                <a:latin typeface="Calibri"/>
              </a:rPr>
              <a:t>🔍 Instant GitHub Search</a:t>
            </a:r>
          </a:p>
        </p:txBody>
      </p:sp>
      <p:sp>
        <p:nvSpPr>
          <p:cNvPr id="8" name="TextBox 7"/>
          <p:cNvSpPr txBox="1"/>
          <p:nvPr/>
        </p:nvSpPr>
        <p:spPr>
          <a:xfrm>
            <a:off x="548640" y="1600200"/>
            <a:ext cx="5120640" cy="731520"/>
          </a:xfrm>
          <a:prstGeom prst="rect">
            <a:avLst/>
          </a:prstGeom>
          <a:noFill/>
        </p:spPr>
        <p:txBody>
          <a:bodyPr wrap="square">
            <a:spAutoFit/>
          </a:bodyPr>
          <a:lstStyle/>
          <a:p>
            <a:pPr algn="l"/>
            <a:r>
              <a:rPr sz="1200" b="0">
                <a:solidFill>
                  <a:srgbClr val="475569"/>
                </a:solidFill>
                <a:latin typeface="Calibri"/>
              </a:rPr>
              <a:t>Enter any username to profile public data immediately.</a:t>
            </a:r>
          </a:p>
        </p:txBody>
      </p:sp>
      <p:sp>
        <p:nvSpPr>
          <p:cNvPr id="9" name="Rectangle 8"/>
          <p:cNvSpPr/>
          <p:nvPr/>
        </p:nvSpPr>
        <p:spPr>
          <a:xfrm>
            <a:off x="6172200" y="1005840"/>
            <a:ext cx="5486400" cy="1463040"/>
          </a:xfrm>
          <a:prstGeom prst="rect">
            <a:avLst/>
          </a:prstGeom>
          <a:solidFill>
            <a:srgbClr val="FFFFFF"/>
          </a:solidFill>
          <a:ln w="12700">
            <a:solidFill>
              <a:srgbClr val="DB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2200" y="1005840"/>
            <a:ext cx="5486400" cy="6400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143000"/>
            <a:ext cx="5120640" cy="365760"/>
          </a:xfrm>
          <a:prstGeom prst="rect">
            <a:avLst/>
          </a:prstGeom>
          <a:noFill/>
        </p:spPr>
        <p:txBody>
          <a:bodyPr wrap="square">
            <a:spAutoFit/>
          </a:bodyPr>
          <a:lstStyle/>
          <a:p>
            <a:pPr algn="l"/>
            <a:r>
              <a:rPr sz="1500" b="1">
                <a:solidFill>
                  <a:srgbClr val="0F2C59"/>
                </a:solidFill>
                <a:latin typeface="Calibri"/>
              </a:rPr>
              <a:t>👤 Profile Intelligence</a:t>
            </a:r>
          </a:p>
        </p:txBody>
      </p:sp>
      <p:sp>
        <p:nvSpPr>
          <p:cNvPr id="12" name="TextBox 11"/>
          <p:cNvSpPr txBox="1"/>
          <p:nvPr/>
        </p:nvSpPr>
        <p:spPr>
          <a:xfrm>
            <a:off x="6355080" y="1600200"/>
            <a:ext cx="5120640" cy="731520"/>
          </a:xfrm>
          <a:prstGeom prst="rect">
            <a:avLst/>
          </a:prstGeom>
          <a:noFill/>
        </p:spPr>
        <p:txBody>
          <a:bodyPr wrap="square">
            <a:spAutoFit/>
          </a:bodyPr>
          <a:lstStyle/>
          <a:p>
            <a:pPr algn="l"/>
            <a:r>
              <a:rPr sz="1200" b="0">
                <a:solidFill>
                  <a:srgbClr val="475569"/>
                </a:solidFill>
                <a:latin typeface="Calibri"/>
              </a:rPr>
              <a:t>Fetches name, avatar, bio, location, and account age.</a:t>
            </a:r>
          </a:p>
        </p:txBody>
      </p:sp>
      <p:sp>
        <p:nvSpPr>
          <p:cNvPr id="13" name="Rectangle 12"/>
          <p:cNvSpPr/>
          <p:nvPr/>
        </p:nvSpPr>
        <p:spPr>
          <a:xfrm>
            <a:off x="365760" y="2697480"/>
            <a:ext cx="5486400" cy="1463040"/>
          </a:xfrm>
          <a:prstGeom prst="rect">
            <a:avLst/>
          </a:prstGeom>
          <a:solidFill>
            <a:srgbClr val="FFFFFF"/>
          </a:solidFill>
          <a:ln w="12700">
            <a:solidFill>
              <a:srgbClr val="DB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2697480"/>
            <a:ext cx="5486400" cy="6400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834640"/>
            <a:ext cx="5120640" cy="365760"/>
          </a:xfrm>
          <a:prstGeom prst="rect">
            <a:avLst/>
          </a:prstGeom>
          <a:noFill/>
        </p:spPr>
        <p:txBody>
          <a:bodyPr wrap="square">
            <a:spAutoFit/>
          </a:bodyPr>
          <a:lstStyle/>
          <a:p>
            <a:pPr algn="l"/>
            <a:r>
              <a:rPr sz="1500" b="1">
                <a:solidFill>
                  <a:srgbClr val="0F2C59"/>
                </a:solidFill>
                <a:latin typeface="Calibri"/>
              </a:rPr>
              <a:t>📊 Repository Analytics</a:t>
            </a:r>
          </a:p>
        </p:txBody>
      </p:sp>
      <p:sp>
        <p:nvSpPr>
          <p:cNvPr id="16" name="TextBox 15"/>
          <p:cNvSpPr txBox="1"/>
          <p:nvPr/>
        </p:nvSpPr>
        <p:spPr>
          <a:xfrm>
            <a:off x="548640" y="3291840"/>
            <a:ext cx="5120640" cy="731520"/>
          </a:xfrm>
          <a:prstGeom prst="rect">
            <a:avLst/>
          </a:prstGeom>
          <a:noFill/>
        </p:spPr>
        <p:txBody>
          <a:bodyPr wrap="square">
            <a:spAutoFit/>
          </a:bodyPr>
          <a:lstStyle/>
          <a:p>
            <a:pPr algn="l"/>
            <a:r>
              <a:rPr sz="1200" b="0">
                <a:solidFill>
                  <a:srgbClr val="475569"/>
                </a:solidFill>
                <a:latin typeface="Calibri"/>
              </a:rPr>
              <a:t>Top 10 public repos showing stars, description, &amp; language.</a:t>
            </a:r>
          </a:p>
        </p:txBody>
      </p:sp>
      <p:sp>
        <p:nvSpPr>
          <p:cNvPr id="17" name="Rectangle 16"/>
          <p:cNvSpPr/>
          <p:nvPr/>
        </p:nvSpPr>
        <p:spPr>
          <a:xfrm>
            <a:off x="6172200" y="2697480"/>
            <a:ext cx="5486400" cy="1463040"/>
          </a:xfrm>
          <a:prstGeom prst="rect">
            <a:avLst/>
          </a:prstGeom>
          <a:solidFill>
            <a:srgbClr val="FFFFFF"/>
          </a:solidFill>
          <a:ln w="12700">
            <a:solidFill>
              <a:srgbClr val="DB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2200" y="2697480"/>
            <a:ext cx="5486400" cy="6400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2834640"/>
            <a:ext cx="5120640" cy="365760"/>
          </a:xfrm>
          <a:prstGeom prst="rect">
            <a:avLst/>
          </a:prstGeom>
          <a:noFill/>
        </p:spPr>
        <p:txBody>
          <a:bodyPr wrap="square">
            <a:spAutoFit/>
          </a:bodyPr>
          <a:lstStyle/>
          <a:p>
            <a:pPr algn="l"/>
            <a:r>
              <a:rPr sz="1500" b="1">
                <a:solidFill>
                  <a:srgbClr val="0F2C59"/>
                </a:solidFill>
                <a:latin typeface="Calibri"/>
              </a:rPr>
              <a:t>🗃️ SQLite Search History</a:t>
            </a:r>
          </a:p>
        </p:txBody>
      </p:sp>
      <p:sp>
        <p:nvSpPr>
          <p:cNvPr id="20" name="TextBox 19"/>
          <p:cNvSpPr txBox="1"/>
          <p:nvPr/>
        </p:nvSpPr>
        <p:spPr>
          <a:xfrm>
            <a:off x="6355080" y="3291840"/>
            <a:ext cx="5120640" cy="731520"/>
          </a:xfrm>
          <a:prstGeom prst="rect">
            <a:avLst/>
          </a:prstGeom>
          <a:noFill/>
        </p:spPr>
        <p:txBody>
          <a:bodyPr wrap="square">
            <a:spAutoFit/>
          </a:bodyPr>
          <a:lstStyle/>
          <a:p>
            <a:pPr algn="l"/>
            <a:r>
              <a:rPr sz="1200" b="0">
                <a:solidFill>
                  <a:srgbClr val="475569"/>
                </a:solidFill>
                <a:latin typeface="Calibri"/>
              </a:rPr>
              <a:t>Stores all past lookups with timestamps; includes 'Clear History'.</a:t>
            </a:r>
          </a:p>
        </p:txBody>
      </p:sp>
      <p:sp>
        <p:nvSpPr>
          <p:cNvPr id="21" name="Rectangle 20"/>
          <p:cNvSpPr/>
          <p:nvPr/>
        </p:nvSpPr>
        <p:spPr>
          <a:xfrm>
            <a:off x="365760" y="4389120"/>
            <a:ext cx="5486400" cy="1463040"/>
          </a:xfrm>
          <a:prstGeom prst="rect">
            <a:avLst/>
          </a:prstGeom>
          <a:solidFill>
            <a:srgbClr val="FFFFFF"/>
          </a:solidFill>
          <a:ln w="12700">
            <a:solidFill>
              <a:srgbClr val="DB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4389120"/>
            <a:ext cx="5486400" cy="6400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526280"/>
            <a:ext cx="5120640" cy="365760"/>
          </a:xfrm>
          <a:prstGeom prst="rect">
            <a:avLst/>
          </a:prstGeom>
          <a:noFill/>
        </p:spPr>
        <p:txBody>
          <a:bodyPr wrap="square">
            <a:spAutoFit/>
          </a:bodyPr>
          <a:lstStyle/>
          <a:p>
            <a:pPr algn="l"/>
            <a:r>
              <a:rPr sz="1500" b="1">
                <a:solidFill>
                  <a:srgbClr val="0F2C59"/>
                </a:solidFill>
                <a:latin typeface="Calibri"/>
              </a:rPr>
              <a:t>📄 PDF Report Generation</a:t>
            </a:r>
          </a:p>
        </p:txBody>
      </p:sp>
      <p:sp>
        <p:nvSpPr>
          <p:cNvPr id="24" name="TextBox 23"/>
          <p:cNvSpPr txBox="1"/>
          <p:nvPr/>
        </p:nvSpPr>
        <p:spPr>
          <a:xfrm>
            <a:off x="548640" y="4983480"/>
            <a:ext cx="5120640" cy="731520"/>
          </a:xfrm>
          <a:prstGeom prst="rect">
            <a:avLst/>
          </a:prstGeom>
          <a:noFill/>
        </p:spPr>
        <p:txBody>
          <a:bodyPr wrap="square">
            <a:spAutoFit/>
          </a:bodyPr>
          <a:lstStyle/>
          <a:p>
            <a:pPr algn="l"/>
            <a:r>
              <a:rPr sz="1200" b="0">
                <a:solidFill>
                  <a:srgbClr val="475569"/>
                </a:solidFill>
                <a:latin typeface="Calibri"/>
              </a:rPr>
              <a:t>Export clean A4 OSINT intelligence report with one click.</a:t>
            </a:r>
          </a:p>
        </p:txBody>
      </p:sp>
      <p:sp>
        <p:nvSpPr>
          <p:cNvPr id="25" name="Rectangle 24"/>
          <p:cNvSpPr/>
          <p:nvPr/>
        </p:nvSpPr>
        <p:spPr>
          <a:xfrm>
            <a:off x="6172200" y="4389120"/>
            <a:ext cx="5486400" cy="1463040"/>
          </a:xfrm>
          <a:prstGeom prst="rect">
            <a:avLst/>
          </a:prstGeom>
          <a:solidFill>
            <a:srgbClr val="FFFFFF"/>
          </a:solidFill>
          <a:ln w="12700">
            <a:solidFill>
              <a:srgbClr val="DB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72200" y="4389120"/>
            <a:ext cx="5486400" cy="6400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5080" y="4526280"/>
            <a:ext cx="5120640" cy="365760"/>
          </a:xfrm>
          <a:prstGeom prst="rect">
            <a:avLst/>
          </a:prstGeom>
          <a:noFill/>
        </p:spPr>
        <p:txBody>
          <a:bodyPr wrap="square">
            <a:spAutoFit/>
          </a:bodyPr>
          <a:lstStyle/>
          <a:p>
            <a:pPr algn="l"/>
            <a:r>
              <a:rPr sz="1500" b="1">
                <a:solidFill>
                  <a:srgbClr val="0F2C59"/>
                </a:solidFill>
                <a:latin typeface="Calibri"/>
              </a:rPr>
              <a:t>🛡️ Robust Error Handling</a:t>
            </a:r>
          </a:p>
        </p:txBody>
      </p:sp>
      <p:sp>
        <p:nvSpPr>
          <p:cNvPr id="28" name="TextBox 27"/>
          <p:cNvSpPr txBox="1"/>
          <p:nvPr/>
        </p:nvSpPr>
        <p:spPr>
          <a:xfrm>
            <a:off x="6355080" y="4983480"/>
            <a:ext cx="5120640" cy="731520"/>
          </a:xfrm>
          <a:prstGeom prst="rect">
            <a:avLst/>
          </a:prstGeom>
          <a:noFill/>
        </p:spPr>
        <p:txBody>
          <a:bodyPr wrap="square">
            <a:spAutoFit/>
          </a:bodyPr>
          <a:lstStyle/>
          <a:p>
            <a:pPr algn="l"/>
            <a:r>
              <a:rPr sz="1200" b="0">
                <a:solidFill>
                  <a:srgbClr val="475569"/>
                </a:solidFill>
                <a:latin typeface="Calibri"/>
              </a:rPr>
              <a:t>Handles empty search, 404 user not found, and API rate limits.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6446520"/>
            <a:ext cx="9144000" cy="320040"/>
          </a:xfrm>
          <a:prstGeom prst="rect">
            <a:avLst/>
          </a:prstGeom>
          <a:noFill/>
        </p:spPr>
        <p:txBody>
          <a:bodyPr wrap="square">
            <a:spAutoFit/>
          </a:bodyPr>
          <a:lstStyle/>
          <a:p>
            <a:pPr algn="l"/>
            <a:r>
              <a:rPr sz="1000" b="0">
                <a:solidFill>
                  <a:srgbClr val="475569"/>
                </a:solidFill>
                <a:latin typeface="Calibri"/>
              </a:rPr>
              <a:t>Social Media OSINT Profiling Tool  |  Slide 6 of 7</a:t>
            </a:r>
          </a:p>
        </p:txBody>
      </p:sp>
      <p:sp>
        <p:nvSpPr>
          <p:cNvPr id="4" name="TextBox 3"/>
          <p:cNvSpPr txBox="1"/>
          <p:nvPr/>
        </p:nvSpPr>
        <p:spPr>
          <a:xfrm>
            <a:off x="457200" y="274320"/>
            <a:ext cx="10972800" cy="548640"/>
          </a:xfrm>
          <a:prstGeom prst="rect">
            <a:avLst/>
          </a:prstGeom>
          <a:noFill/>
        </p:spPr>
        <p:txBody>
          <a:bodyPr wrap="square">
            <a:spAutoFit/>
          </a:bodyPr>
          <a:lstStyle/>
          <a:p>
            <a:pPr algn="l"/>
            <a:r>
              <a:rPr sz="2800" b="1">
                <a:solidFill>
                  <a:srgbClr val="0F2C59"/>
                </a:solidFill>
                <a:latin typeface="Calibri"/>
              </a:rPr>
              <a:t>5. Application Workflow &amp; Demo Results</a:t>
            </a:r>
          </a:p>
        </p:txBody>
      </p:sp>
      <p:sp>
        <p:nvSpPr>
          <p:cNvPr id="5" name="Rectangle 4"/>
          <p:cNvSpPr/>
          <p:nvPr/>
        </p:nvSpPr>
        <p:spPr>
          <a:xfrm>
            <a:off x="365760" y="1005840"/>
            <a:ext cx="5303520" cy="5120640"/>
          </a:xfrm>
          <a:prstGeom prst="rect">
            <a:avLst/>
          </a:prstGeom>
          <a:solidFill>
            <a:srgbClr val="FFFFFF"/>
          </a:solidFill>
          <a:ln w="12700">
            <a:solidFill>
              <a:srgbClr val="DB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005840"/>
            <a:ext cx="5303520" cy="640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188720"/>
            <a:ext cx="4937760" cy="365760"/>
          </a:xfrm>
          <a:prstGeom prst="rect">
            <a:avLst/>
          </a:prstGeom>
          <a:noFill/>
        </p:spPr>
        <p:txBody>
          <a:bodyPr wrap="square">
            <a:spAutoFit/>
          </a:bodyPr>
          <a:lstStyle/>
          <a:p>
            <a:pPr algn="l"/>
            <a:r>
              <a:rPr sz="1600" b="1">
                <a:solidFill>
                  <a:srgbClr val="0F2C59"/>
                </a:solidFill>
                <a:latin typeface="Calibri"/>
              </a:rPr>
              <a:t>🔄 Step-by-Step Workflow</a:t>
            </a:r>
          </a:p>
        </p:txBody>
      </p:sp>
      <p:sp>
        <p:nvSpPr>
          <p:cNvPr id="8" name="TextBox 7"/>
          <p:cNvSpPr txBox="1"/>
          <p:nvPr/>
        </p:nvSpPr>
        <p:spPr>
          <a:xfrm>
            <a:off x="365760" y="1691640"/>
            <a:ext cx="5303520" cy="4206240"/>
          </a:xfrm>
          <a:prstGeom prst="rect">
            <a:avLst/>
          </a:prstGeom>
          <a:noFill/>
        </p:spPr>
        <p:txBody>
          <a:bodyPr wrap="square">
            <a:spAutoFit/>
          </a:bodyPr>
          <a:lstStyle/>
          <a:p/>
          <a:p>
            <a:pPr algn="l">
              <a:spcBef>
                <a:spcPts val="600"/>
              </a:spcBef>
            </a:pPr>
            <a:r>
              <a:rPr sz="1250">
                <a:solidFill>
                  <a:srgbClr val="1E293B"/>
                </a:solidFill>
                <a:latin typeface="Calibri"/>
              </a:rPr>
              <a:t>  •  1. User opens http://127.0.0.1:5000 in browser.</a:t>
            </a:r>
          </a:p>
          <a:p>
            <a:pPr algn="l">
              <a:spcBef>
                <a:spcPts val="600"/>
              </a:spcBef>
            </a:pPr>
            <a:r>
              <a:rPr sz="1250">
                <a:solidFill>
                  <a:srgbClr val="1E293B"/>
                </a:solidFill>
                <a:latin typeface="Calibri"/>
              </a:rPr>
              <a:t>  •  2. User enters a GitHub username (e.g. 'torvalds').</a:t>
            </a:r>
          </a:p>
          <a:p>
            <a:pPr algn="l">
              <a:spcBef>
                <a:spcPts val="600"/>
              </a:spcBef>
            </a:pPr>
            <a:r>
              <a:rPr sz="1250">
                <a:solidFill>
                  <a:srgbClr val="1E293B"/>
                </a:solidFill>
                <a:latin typeface="Calibri"/>
              </a:rPr>
              <a:t>  •  3. Flask sends GET request to GitHub API (api.github.com).</a:t>
            </a:r>
          </a:p>
          <a:p>
            <a:pPr algn="l">
              <a:spcBef>
                <a:spcPts val="600"/>
              </a:spcBef>
            </a:pPr>
            <a:r>
              <a:rPr sz="1250">
                <a:solidFill>
                  <a:srgbClr val="1E293B"/>
                </a:solidFill>
                <a:latin typeface="Calibri"/>
              </a:rPr>
              <a:t>  •  4. GitHub returns JSON data; Flask renders profile &amp; repos.</a:t>
            </a:r>
          </a:p>
          <a:p>
            <a:pPr algn="l">
              <a:spcBef>
                <a:spcPts val="600"/>
              </a:spcBef>
            </a:pPr>
            <a:r>
              <a:rPr sz="1250">
                <a:solidFill>
                  <a:srgbClr val="1E293B"/>
                </a:solidFill>
                <a:latin typeface="Calibri"/>
              </a:rPr>
              <a:t>  •  5. Search record auto-saved in SQLite database.</a:t>
            </a:r>
          </a:p>
          <a:p>
            <a:pPr algn="l">
              <a:spcBef>
                <a:spcPts val="600"/>
              </a:spcBef>
            </a:pPr>
            <a:r>
              <a:rPr sz="1250">
                <a:solidFill>
                  <a:srgbClr val="1E293B"/>
                </a:solidFill>
                <a:latin typeface="Calibri"/>
              </a:rPr>
              <a:t>  •  6. User clicks 'Download PDF' to save OSINT report.</a:t>
            </a:r>
          </a:p>
        </p:txBody>
      </p:sp>
      <p:sp>
        <p:nvSpPr>
          <p:cNvPr id="9" name="Rectangle 8"/>
          <p:cNvSpPr/>
          <p:nvPr/>
        </p:nvSpPr>
        <p:spPr>
          <a:xfrm>
            <a:off x="5943600" y="1005840"/>
            <a:ext cx="5852160" cy="5120640"/>
          </a:xfrm>
          <a:prstGeom prst="rect">
            <a:avLst/>
          </a:prstGeom>
          <a:solidFill>
            <a:srgbClr val="FFFFFF"/>
          </a:solidFill>
          <a:ln w="12700">
            <a:solidFill>
              <a:srgbClr val="DB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0" y="1005840"/>
            <a:ext cx="5852160"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0" y="1188720"/>
            <a:ext cx="5486400" cy="365760"/>
          </a:xfrm>
          <a:prstGeom prst="rect">
            <a:avLst/>
          </a:prstGeom>
          <a:noFill/>
        </p:spPr>
        <p:txBody>
          <a:bodyPr wrap="square">
            <a:spAutoFit/>
          </a:bodyPr>
          <a:lstStyle/>
          <a:p>
            <a:pPr algn="l"/>
            <a:r>
              <a:rPr sz="1600" b="1">
                <a:solidFill>
                  <a:srgbClr val="0F2C59"/>
                </a:solidFill>
                <a:latin typeface="Calibri"/>
              </a:rPr>
              <a:t>✅ Live Test Result (Username: torvalds)</a:t>
            </a:r>
          </a:p>
        </p:txBody>
      </p:sp>
      <p:sp>
        <p:nvSpPr>
          <p:cNvPr id="12" name="Rectangle 11"/>
          <p:cNvSpPr/>
          <p:nvPr/>
        </p:nvSpPr>
        <p:spPr>
          <a:xfrm>
            <a:off x="6126480" y="1828800"/>
            <a:ext cx="5486400" cy="5029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1920240"/>
            <a:ext cx="1828800" cy="320040"/>
          </a:xfrm>
          <a:prstGeom prst="rect">
            <a:avLst/>
          </a:prstGeom>
          <a:noFill/>
        </p:spPr>
        <p:txBody>
          <a:bodyPr wrap="square">
            <a:spAutoFit/>
          </a:bodyPr>
          <a:lstStyle/>
          <a:p>
            <a:pPr algn="l"/>
            <a:r>
              <a:rPr sz="1150" b="0">
                <a:solidFill>
                  <a:srgbClr val="475569"/>
                </a:solidFill>
                <a:latin typeface="Calibri"/>
              </a:rPr>
              <a:t>Target User</a:t>
            </a:r>
          </a:p>
        </p:txBody>
      </p:sp>
      <p:sp>
        <p:nvSpPr>
          <p:cNvPr id="14" name="TextBox 13"/>
          <p:cNvSpPr txBox="1"/>
          <p:nvPr/>
        </p:nvSpPr>
        <p:spPr>
          <a:xfrm>
            <a:off x="8046720" y="1920240"/>
            <a:ext cx="3474720" cy="320040"/>
          </a:xfrm>
          <a:prstGeom prst="rect">
            <a:avLst/>
          </a:prstGeom>
          <a:noFill/>
        </p:spPr>
        <p:txBody>
          <a:bodyPr wrap="square">
            <a:spAutoFit/>
          </a:bodyPr>
          <a:lstStyle/>
          <a:p>
            <a:pPr algn="l"/>
            <a:r>
              <a:rPr sz="1150" b="1">
                <a:solidFill>
                  <a:srgbClr val="0F2C59"/>
                </a:solidFill>
                <a:latin typeface="Calibri"/>
              </a:rPr>
              <a:t>torvalds (Linus Torvalds)</a:t>
            </a:r>
          </a:p>
        </p:txBody>
      </p:sp>
      <p:sp>
        <p:nvSpPr>
          <p:cNvPr id="15" name="Rectangle 14"/>
          <p:cNvSpPr/>
          <p:nvPr/>
        </p:nvSpPr>
        <p:spPr>
          <a:xfrm>
            <a:off x="6126480" y="2468880"/>
            <a:ext cx="5486400" cy="5029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2560320"/>
            <a:ext cx="1828800" cy="320040"/>
          </a:xfrm>
          <a:prstGeom prst="rect">
            <a:avLst/>
          </a:prstGeom>
          <a:noFill/>
        </p:spPr>
        <p:txBody>
          <a:bodyPr wrap="square">
            <a:spAutoFit/>
          </a:bodyPr>
          <a:lstStyle/>
          <a:p>
            <a:pPr algn="l"/>
            <a:r>
              <a:rPr sz="1150" b="0">
                <a:solidFill>
                  <a:srgbClr val="475569"/>
                </a:solidFill>
                <a:latin typeface="Calibri"/>
              </a:rPr>
              <a:t>Location</a:t>
            </a:r>
          </a:p>
        </p:txBody>
      </p:sp>
      <p:sp>
        <p:nvSpPr>
          <p:cNvPr id="17" name="TextBox 16"/>
          <p:cNvSpPr txBox="1"/>
          <p:nvPr/>
        </p:nvSpPr>
        <p:spPr>
          <a:xfrm>
            <a:off x="8046720" y="2560320"/>
            <a:ext cx="3474720" cy="320040"/>
          </a:xfrm>
          <a:prstGeom prst="rect">
            <a:avLst/>
          </a:prstGeom>
          <a:noFill/>
        </p:spPr>
        <p:txBody>
          <a:bodyPr wrap="square">
            <a:spAutoFit/>
          </a:bodyPr>
          <a:lstStyle/>
          <a:p>
            <a:pPr algn="l"/>
            <a:r>
              <a:rPr sz="1150" b="1">
                <a:solidFill>
                  <a:srgbClr val="0F2C59"/>
                </a:solidFill>
                <a:latin typeface="Calibri"/>
              </a:rPr>
              <a:t>Portland, OR</a:t>
            </a:r>
          </a:p>
        </p:txBody>
      </p:sp>
      <p:sp>
        <p:nvSpPr>
          <p:cNvPr id="18" name="Rectangle 17"/>
          <p:cNvSpPr/>
          <p:nvPr/>
        </p:nvSpPr>
        <p:spPr>
          <a:xfrm>
            <a:off x="6126480" y="3108960"/>
            <a:ext cx="5486400" cy="5029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3200400"/>
            <a:ext cx="1828800" cy="320040"/>
          </a:xfrm>
          <a:prstGeom prst="rect">
            <a:avLst/>
          </a:prstGeom>
          <a:noFill/>
        </p:spPr>
        <p:txBody>
          <a:bodyPr wrap="square">
            <a:spAutoFit/>
          </a:bodyPr>
          <a:lstStyle/>
          <a:p>
            <a:pPr algn="l"/>
            <a:r>
              <a:rPr sz="1150" b="0">
                <a:solidFill>
                  <a:srgbClr val="475569"/>
                </a:solidFill>
                <a:latin typeface="Calibri"/>
              </a:rPr>
              <a:t>Followers</a:t>
            </a:r>
          </a:p>
        </p:txBody>
      </p:sp>
      <p:sp>
        <p:nvSpPr>
          <p:cNvPr id="20" name="TextBox 19"/>
          <p:cNvSpPr txBox="1"/>
          <p:nvPr/>
        </p:nvSpPr>
        <p:spPr>
          <a:xfrm>
            <a:off x="8046720" y="3200400"/>
            <a:ext cx="3474720" cy="320040"/>
          </a:xfrm>
          <a:prstGeom prst="rect">
            <a:avLst/>
          </a:prstGeom>
          <a:noFill/>
        </p:spPr>
        <p:txBody>
          <a:bodyPr wrap="square">
            <a:spAutoFit/>
          </a:bodyPr>
          <a:lstStyle/>
          <a:p>
            <a:pPr algn="l"/>
            <a:r>
              <a:rPr sz="1150" b="1">
                <a:solidFill>
                  <a:srgbClr val="0F2C59"/>
                </a:solidFill>
                <a:latin typeface="Calibri"/>
              </a:rPr>
              <a:t>310,000+ public followers</a:t>
            </a:r>
          </a:p>
        </p:txBody>
      </p:sp>
      <p:sp>
        <p:nvSpPr>
          <p:cNvPr id="21" name="Rectangle 20"/>
          <p:cNvSpPr/>
          <p:nvPr/>
        </p:nvSpPr>
        <p:spPr>
          <a:xfrm>
            <a:off x="6126480" y="3749040"/>
            <a:ext cx="5486400" cy="5029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0" y="3840480"/>
            <a:ext cx="1828800" cy="320040"/>
          </a:xfrm>
          <a:prstGeom prst="rect">
            <a:avLst/>
          </a:prstGeom>
          <a:noFill/>
        </p:spPr>
        <p:txBody>
          <a:bodyPr wrap="square">
            <a:spAutoFit/>
          </a:bodyPr>
          <a:lstStyle/>
          <a:p>
            <a:pPr algn="l"/>
            <a:r>
              <a:rPr sz="1150" b="0">
                <a:solidFill>
                  <a:srgbClr val="475569"/>
                </a:solidFill>
                <a:latin typeface="Calibri"/>
              </a:rPr>
              <a:t>Public Repos</a:t>
            </a:r>
          </a:p>
        </p:txBody>
      </p:sp>
      <p:sp>
        <p:nvSpPr>
          <p:cNvPr id="23" name="TextBox 22"/>
          <p:cNvSpPr txBox="1"/>
          <p:nvPr/>
        </p:nvSpPr>
        <p:spPr>
          <a:xfrm>
            <a:off x="8046720" y="3840480"/>
            <a:ext cx="3474720" cy="320040"/>
          </a:xfrm>
          <a:prstGeom prst="rect">
            <a:avLst/>
          </a:prstGeom>
          <a:noFill/>
        </p:spPr>
        <p:txBody>
          <a:bodyPr wrap="square">
            <a:spAutoFit/>
          </a:bodyPr>
          <a:lstStyle/>
          <a:p>
            <a:pPr algn="l"/>
            <a:r>
              <a:rPr sz="1150" b="1">
                <a:solidFill>
                  <a:srgbClr val="0F2C59"/>
                </a:solidFill>
                <a:latin typeface="Calibri"/>
              </a:rPr>
              <a:t>12 repositories</a:t>
            </a:r>
          </a:p>
        </p:txBody>
      </p:sp>
      <p:sp>
        <p:nvSpPr>
          <p:cNvPr id="24" name="Rectangle 23"/>
          <p:cNvSpPr/>
          <p:nvPr/>
        </p:nvSpPr>
        <p:spPr>
          <a:xfrm>
            <a:off x="6126480" y="4389120"/>
            <a:ext cx="5486400" cy="5029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0" y="4480560"/>
            <a:ext cx="1828800" cy="320040"/>
          </a:xfrm>
          <a:prstGeom prst="rect">
            <a:avLst/>
          </a:prstGeom>
          <a:noFill/>
        </p:spPr>
        <p:txBody>
          <a:bodyPr wrap="square">
            <a:spAutoFit/>
          </a:bodyPr>
          <a:lstStyle/>
          <a:p>
            <a:pPr algn="l"/>
            <a:r>
              <a:rPr sz="1150" b="0">
                <a:solidFill>
                  <a:srgbClr val="475569"/>
                </a:solidFill>
                <a:latin typeface="Calibri"/>
              </a:rPr>
              <a:t>PDF Status</a:t>
            </a:r>
          </a:p>
        </p:txBody>
      </p:sp>
      <p:sp>
        <p:nvSpPr>
          <p:cNvPr id="26" name="TextBox 25"/>
          <p:cNvSpPr txBox="1"/>
          <p:nvPr/>
        </p:nvSpPr>
        <p:spPr>
          <a:xfrm>
            <a:off x="8046720" y="4480560"/>
            <a:ext cx="3474720" cy="320040"/>
          </a:xfrm>
          <a:prstGeom prst="rect">
            <a:avLst/>
          </a:prstGeom>
          <a:noFill/>
        </p:spPr>
        <p:txBody>
          <a:bodyPr wrap="square">
            <a:spAutoFit/>
          </a:bodyPr>
          <a:lstStyle/>
          <a:p>
            <a:pPr algn="l"/>
            <a:r>
              <a:rPr sz="1150" b="1">
                <a:solidFill>
                  <a:srgbClr val="0F2C59"/>
                </a:solidFill>
                <a:latin typeface="Calibri"/>
              </a:rPr>
              <a:t>Generated successfully (1.5 KB)</a:t>
            </a:r>
          </a:p>
        </p:txBody>
      </p:sp>
      <p:sp>
        <p:nvSpPr>
          <p:cNvPr id="27" name="Rectangle 26"/>
          <p:cNvSpPr/>
          <p:nvPr/>
        </p:nvSpPr>
        <p:spPr>
          <a:xfrm>
            <a:off x="6126480" y="5029200"/>
            <a:ext cx="5486400" cy="5029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17920" y="5120640"/>
            <a:ext cx="1828800" cy="320040"/>
          </a:xfrm>
          <a:prstGeom prst="rect">
            <a:avLst/>
          </a:prstGeom>
          <a:noFill/>
        </p:spPr>
        <p:txBody>
          <a:bodyPr wrap="square">
            <a:spAutoFit/>
          </a:bodyPr>
          <a:lstStyle/>
          <a:p>
            <a:pPr algn="l"/>
            <a:r>
              <a:rPr sz="1150" b="0">
                <a:solidFill>
                  <a:srgbClr val="475569"/>
                </a:solidFill>
                <a:latin typeface="Calibri"/>
              </a:rPr>
              <a:t>Database</a:t>
            </a:r>
          </a:p>
        </p:txBody>
      </p:sp>
      <p:sp>
        <p:nvSpPr>
          <p:cNvPr id="29" name="TextBox 28"/>
          <p:cNvSpPr txBox="1"/>
          <p:nvPr/>
        </p:nvSpPr>
        <p:spPr>
          <a:xfrm>
            <a:off x="8046720" y="5120640"/>
            <a:ext cx="3474720" cy="320040"/>
          </a:xfrm>
          <a:prstGeom prst="rect">
            <a:avLst/>
          </a:prstGeom>
          <a:noFill/>
        </p:spPr>
        <p:txBody>
          <a:bodyPr wrap="square">
            <a:spAutoFit/>
          </a:bodyPr>
          <a:lstStyle/>
          <a:p>
            <a:pPr algn="l"/>
            <a:r>
              <a:rPr sz="1150" b="1">
                <a:solidFill>
                  <a:srgbClr val="0F2C59"/>
                </a:solidFill>
                <a:latin typeface="Calibri"/>
              </a:rPr>
              <a:t>Logged into search_history table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6446520"/>
            <a:ext cx="9144000" cy="320040"/>
          </a:xfrm>
          <a:prstGeom prst="rect">
            <a:avLst/>
          </a:prstGeom>
          <a:noFill/>
        </p:spPr>
        <p:txBody>
          <a:bodyPr wrap="square">
            <a:spAutoFit/>
          </a:bodyPr>
          <a:lstStyle/>
          <a:p>
            <a:pPr algn="l"/>
            <a:r>
              <a:rPr sz="1000" b="0">
                <a:solidFill>
                  <a:srgbClr val="475569"/>
                </a:solidFill>
                <a:latin typeface="Calibri"/>
              </a:rPr>
              <a:t>Social Media OSINT Profiling Tool  |  Slide 7 of 7</a:t>
            </a:r>
          </a:p>
        </p:txBody>
      </p:sp>
      <p:sp>
        <p:nvSpPr>
          <p:cNvPr id="4" name="TextBox 3"/>
          <p:cNvSpPr txBox="1"/>
          <p:nvPr/>
        </p:nvSpPr>
        <p:spPr>
          <a:xfrm>
            <a:off x="457200" y="274320"/>
            <a:ext cx="10972800" cy="548640"/>
          </a:xfrm>
          <a:prstGeom prst="rect">
            <a:avLst/>
          </a:prstGeom>
          <a:noFill/>
        </p:spPr>
        <p:txBody>
          <a:bodyPr wrap="square">
            <a:spAutoFit/>
          </a:bodyPr>
          <a:lstStyle/>
          <a:p>
            <a:pPr algn="l"/>
            <a:r>
              <a:rPr sz="2800" b="1">
                <a:solidFill>
                  <a:srgbClr val="0F2C59"/>
                </a:solidFill>
                <a:latin typeface="Calibri"/>
              </a:rPr>
              <a:t>6. Project Conclusion</a:t>
            </a:r>
          </a:p>
        </p:txBody>
      </p:sp>
      <p:sp>
        <p:nvSpPr>
          <p:cNvPr id="5" name="Rectangle 4"/>
          <p:cNvSpPr/>
          <p:nvPr/>
        </p:nvSpPr>
        <p:spPr>
          <a:xfrm>
            <a:off x="365760" y="1005840"/>
            <a:ext cx="11457432" cy="5120640"/>
          </a:xfrm>
          <a:prstGeom prst="rect">
            <a:avLst/>
          </a:prstGeom>
          <a:solidFill>
            <a:srgbClr val="FFFFFF"/>
          </a:solidFill>
          <a:ln w="12700">
            <a:solidFill>
              <a:srgbClr val="DB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005840"/>
            <a:ext cx="11457432" cy="73152"/>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34440"/>
            <a:ext cx="10789920" cy="411480"/>
          </a:xfrm>
          <a:prstGeom prst="rect">
            <a:avLst/>
          </a:prstGeom>
          <a:noFill/>
        </p:spPr>
        <p:txBody>
          <a:bodyPr wrap="square">
            <a:spAutoFit/>
          </a:bodyPr>
          <a:lstStyle/>
          <a:p>
            <a:pPr algn="l"/>
            <a:r>
              <a:rPr sz="1800" b="1">
                <a:solidFill>
                  <a:srgbClr val="0F2C59"/>
                </a:solidFill>
                <a:latin typeface="Calibri"/>
              </a:rPr>
              <a:t>📌 Summary &amp; Key Takeaways</a:t>
            </a:r>
          </a:p>
        </p:txBody>
      </p:sp>
      <p:sp>
        <p:nvSpPr>
          <p:cNvPr id="8" name="TextBox 7"/>
          <p:cNvSpPr txBox="1"/>
          <p:nvPr/>
        </p:nvSpPr>
        <p:spPr>
          <a:xfrm>
            <a:off x="457200" y="1691640"/>
            <a:ext cx="11247120" cy="4206240"/>
          </a:xfrm>
          <a:prstGeom prst="rect">
            <a:avLst/>
          </a:prstGeom>
          <a:noFill/>
        </p:spPr>
        <p:txBody>
          <a:bodyPr wrap="square">
            <a:spAutoFit/>
          </a:bodyPr>
          <a:lstStyle/>
          <a:p/>
          <a:p>
            <a:pPr algn="l">
              <a:spcBef>
                <a:spcPts val="600"/>
              </a:spcBef>
            </a:pPr>
            <a:r>
              <a:rPr sz="1350">
                <a:solidFill>
                  <a:srgbClr val="1E293B"/>
                </a:solidFill>
                <a:latin typeface="Calibri"/>
              </a:rPr>
              <a:t>  •  Successfully built an ethical, automated Open Source Intelligence (OSINT) web profiling application using Python Flask.</a:t>
            </a:r>
          </a:p>
          <a:p>
            <a:pPr algn="l">
              <a:spcBef>
                <a:spcPts val="600"/>
              </a:spcBef>
            </a:pPr>
            <a:r>
              <a:rPr sz="1350">
                <a:solidFill>
                  <a:srgbClr val="1E293B"/>
                </a:solidFill>
                <a:latin typeface="Calibri"/>
              </a:rPr>
              <a:t>  •  Leveraged the official GitHub REST API v3 to collect and analyze open public profile metrics without credentials or API keys.</a:t>
            </a:r>
          </a:p>
          <a:p>
            <a:pPr algn="l">
              <a:spcBef>
                <a:spcPts val="600"/>
              </a:spcBef>
            </a:pPr>
            <a:r>
              <a:rPr sz="1350">
                <a:solidFill>
                  <a:srgbClr val="1E293B"/>
                </a:solidFill>
                <a:latin typeface="Calibri"/>
              </a:rPr>
              <a:t>  •  Integrated a local SQLite relational database to record search history with automatic schema setup and clear options.</a:t>
            </a:r>
          </a:p>
          <a:p>
            <a:pPr algn="l">
              <a:spcBef>
                <a:spcPts val="600"/>
              </a:spcBef>
            </a:pPr>
            <a:r>
              <a:rPr sz="1350">
                <a:solidFill>
                  <a:srgbClr val="1E293B"/>
                </a:solidFill>
                <a:latin typeface="Calibri"/>
              </a:rPr>
              <a:t>  •  Implemented automated, dynamically generated PDF OSINT reports using ReportLab for easy exporting and documentation.</a:t>
            </a:r>
          </a:p>
          <a:p>
            <a:pPr algn="l">
              <a:spcBef>
                <a:spcPts val="600"/>
              </a:spcBef>
            </a:pPr>
            <a:r>
              <a:rPr sz="1350">
                <a:solidFill>
                  <a:srgbClr val="1E293B"/>
                </a:solidFill>
                <a:latin typeface="Calibri"/>
              </a:rPr>
              <a:t>  •  Designed a responsive, user-friendly frontend interface powered by Bootstrap 5, HTML5, CSS3, and JavaScript AJAX calls.</a:t>
            </a:r>
          </a:p>
          <a:p>
            <a:pPr algn="l">
              <a:spcBef>
                <a:spcPts val="600"/>
              </a:spcBef>
            </a:pPr>
            <a:r>
              <a:rPr sz="1350">
                <a:solidFill>
                  <a:srgbClr val="1E293B"/>
                </a:solidFill>
                <a:latin typeface="Calibri"/>
              </a:rPr>
              <a:t>  •  Ensured comprehensive error handling for invalid input, missing users (404), network timeouts, and GitHub API rate limits.</a:t>
            </a:r>
          </a:p>
          <a:p>
            <a:pPr algn="l">
              <a:spcBef>
                <a:spcPts val="600"/>
              </a:spcBef>
            </a:pPr>
            <a:r>
              <a:rPr sz="1350">
                <a:solidFill>
                  <a:srgbClr val="1E293B"/>
                </a:solidFill>
                <a:latin typeface="Calibri"/>
              </a:rPr>
              <a:t>  •  Delivered a lightweight, self-contained mini-project that is easy to deploy, run, and present in a college viva examination.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