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731520" y="731520"/>
            <a:ext cx="10728655" cy="5394960"/>
          </a:xfrm>
          <a:prstGeom prst="rect">
            <a:avLst/>
          </a:prstGeom>
          <a:solidFill>
            <a:srgbClr val="1E293B"/>
          </a:solidFill>
          <a:ln w="19050">
            <a:solidFill>
              <a:srgbClr val="06B6D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1097280" y="1188720"/>
            <a:ext cx="2926080" cy="365760"/>
          </a:xfrm>
          <a:prstGeom prst="roundRect">
            <a:avLst/>
          </a:prstGeom>
          <a:solidFill>
            <a:srgbClr val="0F76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000" b="1">
                <a:solidFill>
                  <a:srgbClr val="F8FAFC"/>
                </a:solidFill>
              </a:defRPr>
            </a:pPr>
            <a:r>
              <a:t>CLOUD DEPLOYED WEB APPLICATION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97280" y="1737360"/>
            <a:ext cx="9966960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4400" b="1">
                <a:solidFill>
                  <a:srgbClr val="06B6D4"/>
                </a:solidFill>
                <a:latin typeface="Calibri"/>
              </a:defRPr>
            </a:pPr>
            <a:r>
              <a:t>ExploreLocal</a:t>
            </a:r>
          </a:p>
          <a:p>
            <a:pPr>
              <a:spcBef>
                <a:spcPts val="800"/>
              </a:spcBef>
              <a:defRPr sz="2200">
                <a:solidFill>
                  <a:srgbClr val="F8FAFC"/>
                </a:solidFill>
                <a:latin typeface="Calibri"/>
              </a:defRPr>
            </a:pPr>
            <a:r>
              <a:t>Step into the Intellectual Travel Destination</a:t>
            </a:r>
          </a:p>
          <a:p>
            <a:pPr>
              <a:spcBef>
                <a:spcPts val="1400"/>
              </a:spcBef>
              <a:defRPr sz="1400">
                <a:solidFill>
                  <a:srgbClr val="94A3B8"/>
                </a:solidFill>
                <a:latin typeface="Calibri"/>
              </a:defRPr>
            </a:pPr>
            <a:r>
              <a:t>A modern web platform connecting travelers with rich, authentic local culture, heritage, and intellectual travel destinations.</a:t>
            </a:r>
          </a:p>
        </p:txBody>
      </p:sp>
      <p:sp>
        <p:nvSpPr>
          <p:cNvPr id="5" name="Rectangle 4"/>
          <p:cNvSpPr/>
          <p:nvPr/>
        </p:nvSpPr>
        <p:spPr>
          <a:xfrm>
            <a:off x="1097280" y="4114800"/>
            <a:ext cx="9966960" cy="164592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280160" y="4206240"/>
            <a:ext cx="960120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b="1">
                <a:solidFill>
                  <a:srgbClr val="06B6D4"/>
                </a:solidFill>
              </a:defRPr>
            </a:pPr>
            <a:r>
              <a:t>🌐 Live Deployment URL: https://explorelocal-avns.onrender.com/</a:t>
            </a:r>
          </a:p>
          <a:p>
            <a:pPr>
              <a:spcBef>
                <a:spcPts val="600"/>
              </a:spcBef>
              <a:defRPr sz="1200">
                <a:solidFill>
                  <a:srgbClr val="F8FAFC"/>
                </a:solidFill>
              </a:defRPr>
            </a:pPr>
            <a:r>
              <a:t>🛠️ Tech Stack: Python / Node Web Server, Modern HTML5/CSS3 UI, SQLite Database</a:t>
            </a:r>
          </a:p>
          <a:p>
            <a:pPr>
              <a:spcBef>
                <a:spcPts val="400"/>
              </a:spcBef>
              <a:defRPr sz="1200">
                <a:solidFill>
                  <a:srgbClr val="94A3B8"/>
                </a:solidFill>
              </a:defRPr>
            </a:pPr>
            <a:r>
              <a:t>🚀 Platform: Cloud Hosted on Render PaaS Architecture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698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1">
                <a:solidFill>
                  <a:srgbClr val="06B6D4"/>
                </a:solidFill>
                <a:latin typeface="Calibri"/>
              </a:defRPr>
            </a:pPr>
            <a:r>
              <a:t>EXPLORELOCAL PROJECT PRESENTATION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640080"/>
            <a:ext cx="106984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F8FAFC"/>
                </a:solidFill>
                <a:latin typeface="Calibri"/>
              </a:defRPr>
            </a:pPr>
            <a:r>
              <a:t>1. Project Overview &amp; Objectives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1463040"/>
            <a:ext cx="5212080" cy="4663440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05840" y="1645920"/>
            <a:ext cx="4663440" cy="4297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 b="1">
                <a:solidFill>
                  <a:srgbClr val="06B6D4"/>
                </a:solidFill>
              </a:defRPr>
            </a:pPr>
            <a:r>
              <a:t>⚠️ The Travel Problem</a:t>
            </a:r>
          </a:p>
          <a:p>
            <a:pPr>
              <a:spcBef>
                <a:spcPts val="1000"/>
              </a:spcBef>
              <a:defRPr b="1" sz="1200">
                <a:solidFill>
                  <a:srgbClr val="F8FAFC"/>
                </a:solidFill>
              </a:defRPr>
            </a:pPr>
            <a:r>
              <a:t>• Superficial Sightseeing: </a:t>
            </a:r>
            <a:r>
              <a:rPr b="0">
                <a:solidFill>
                  <a:srgbClr val="94A3B8"/>
                </a:solidFill>
              </a:rPr>
              <a:t>Commercial travel tools push crowded tourist spots, missing deep local culture.</a:t>
            </a:r>
          </a:p>
          <a:p>
            <a:pPr>
              <a:spcBef>
                <a:spcPts val="1000"/>
              </a:spcBef>
              <a:defRPr b="1" sz="1200">
                <a:solidFill>
                  <a:srgbClr val="F8FAFC"/>
                </a:solidFill>
              </a:defRPr>
            </a:pPr>
            <a:r>
              <a:t>• Lack of Intellectual Depth: </a:t>
            </a:r>
            <a:r>
              <a:rPr b="0">
                <a:solidFill>
                  <a:srgbClr val="94A3B8"/>
                </a:solidFill>
              </a:rPr>
              <a:t>Travelers seeking heritage, literature, and history struggle to find curated recommendations.</a:t>
            </a:r>
          </a:p>
          <a:p>
            <a:pPr>
              <a:spcBef>
                <a:spcPts val="1000"/>
              </a:spcBef>
              <a:defRPr b="1" sz="1200">
                <a:solidFill>
                  <a:srgbClr val="F8FAFC"/>
                </a:solidFill>
              </a:defRPr>
            </a:pPr>
            <a:r>
              <a:t>• Fragmented Information: </a:t>
            </a:r>
            <a:r>
              <a:rPr b="0">
                <a:solidFill>
                  <a:srgbClr val="94A3B8"/>
                </a:solidFill>
              </a:rPr>
              <a:t>Local spots and authentic experiences remain scattered across unstructured sources.</a:t>
            </a:r>
          </a:p>
          <a:p>
            <a:pPr>
              <a:spcBef>
                <a:spcPts val="1000"/>
              </a:spcBef>
              <a:defRPr b="1" sz="1200">
                <a:solidFill>
                  <a:srgbClr val="F8FAFC"/>
                </a:solidFill>
              </a:defRPr>
            </a:pPr>
            <a:r>
              <a:t>• Generic Platforms: </a:t>
            </a:r>
            <a:r>
              <a:rPr b="0">
                <a:solidFill>
                  <a:srgbClr val="94A3B8"/>
                </a:solidFill>
              </a:rPr>
              <a:t>Existing apps prioritize commercial ads rather than community-driven local exploration.</a:t>
            </a:r>
          </a:p>
        </p:txBody>
      </p:sp>
      <p:sp>
        <p:nvSpPr>
          <p:cNvPr id="6" name="Rectangle 5"/>
          <p:cNvSpPr/>
          <p:nvPr/>
        </p:nvSpPr>
        <p:spPr>
          <a:xfrm>
            <a:off x="6217920" y="1463040"/>
            <a:ext cx="5212080" cy="4663440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492240" y="1645920"/>
            <a:ext cx="4663440" cy="4297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 b="1">
                <a:solidFill>
                  <a:srgbClr val="06B6D4"/>
                </a:solidFill>
              </a:defRPr>
            </a:pPr>
            <a:r>
              <a:t>💡 The ExploreLocal Solution</a:t>
            </a:r>
          </a:p>
          <a:p>
            <a:pPr>
              <a:spcBef>
                <a:spcPts val="1000"/>
              </a:spcBef>
              <a:defRPr b="1" sz="1200">
                <a:solidFill>
                  <a:srgbClr val="F8FAFC"/>
                </a:solidFill>
              </a:defRPr>
            </a:pPr>
            <a:r>
              <a:t>• Curated Intellectual Hub: </a:t>
            </a:r>
            <a:r>
              <a:rPr b="0">
                <a:solidFill>
                  <a:srgbClr val="94A3B8"/>
                </a:solidFill>
              </a:rPr>
              <a:t>Dedicated platform focusing on local heritage, intellectual spots, and cultural landmarks.</a:t>
            </a:r>
          </a:p>
          <a:p>
            <a:pPr>
              <a:spcBef>
                <a:spcPts val="1000"/>
              </a:spcBef>
              <a:defRPr b="1" sz="1200">
                <a:solidFill>
                  <a:srgbClr val="F8FAFC"/>
                </a:solidFill>
              </a:defRPr>
            </a:pPr>
            <a:r>
              <a:t>• User Accounts &amp; Onboarding: </a:t>
            </a:r>
            <a:r>
              <a:rPr b="0">
                <a:solidFill>
                  <a:srgbClr val="94A3B8"/>
                </a:solidFill>
              </a:rPr>
              <a:t>Custom signup and login workflows for personalized traveler profiles.</a:t>
            </a:r>
          </a:p>
          <a:p>
            <a:pPr>
              <a:spcBef>
                <a:spcPts val="1000"/>
              </a:spcBef>
              <a:defRPr b="1" sz="1200">
                <a:solidFill>
                  <a:srgbClr val="F8FAFC"/>
                </a:solidFill>
              </a:defRPr>
            </a:pPr>
            <a:r>
              <a:t>• Accessible Web Interface: </a:t>
            </a:r>
            <a:r>
              <a:rPr b="0">
                <a:solidFill>
                  <a:srgbClr val="94A3B8"/>
                </a:solidFill>
              </a:rPr>
              <a:t>Clean, mobile-responsive layout for seamless user navigation.</a:t>
            </a:r>
          </a:p>
          <a:p>
            <a:pPr>
              <a:spcBef>
                <a:spcPts val="1000"/>
              </a:spcBef>
              <a:defRPr b="1" sz="1200">
                <a:solidFill>
                  <a:srgbClr val="F8FAFC"/>
                </a:solidFill>
              </a:defRPr>
            </a:pPr>
            <a:r>
              <a:t>• Live Cloud Hosting: </a:t>
            </a:r>
            <a:r>
              <a:rPr b="0">
                <a:solidFill>
                  <a:srgbClr val="94A3B8"/>
                </a:solidFill>
              </a:rPr>
              <a:t>Deployed on Render PaaS for continuous global availability.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698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1">
                <a:solidFill>
                  <a:srgbClr val="06B6D4"/>
                </a:solidFill>
                <a:latin typeface="Calibri"/>
              </a:defRPr>
            </a:pPr>
            <a:r>
              <a:t>EXPLORELOCAL PROJECT PRESENTATION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640080"/>
            <a:ext cx="106984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F8FAFC"/>
                </a:solidFill>
                <a:latin typeface="Calibri"/>
              </a:defRPr>
            </a:pPr>
            <a:r>
              <a:t>2. Technology Stack &amp; Architecture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1463040"/>
            <a:ext cx="3328416" cy="4663440"/>
          </a:xfrm>
          <a:prstGeom prst="rect">
            <a:avLst/>
          </a:prstGeom>
          <a:solidFill>
            <a:srgbClr val="1E293B"/>
          </a:solidFill>
          <a:ln w="19050">
            <a:solidFill>
              <a:srgbClr val="06B6D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14400" y="1645920"/>
            <a:ext cx="2962656" cy="4297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1">
                <a:solidFill>
                  <a:srgbClr val="06B6D4"/>
                </a:solidFill>
              </a:defRPr>
            </a:pPr>
            <a:r>
              <a:t>FRONTEND LAYER</a:t>
            </a:r>
          </a:p>
          <a:p>
            <a:pPr>
              <a:spcBef>
                <a:spcPts val="1400"/>
              </a:spcBef>
              <a:defRPr b="1" sz="1300">
                <a:solidFill>
                  <a:srgbClr val="F8FAFC"/>
                </a:solidFill>
              </a:defRPr>
            </a:pPr>
            <a:r>
              <a:t>▶ HTML5 &amp; CSS3</a:t>
            </a:r>
          </a:p>
          <a:p>
            <a:pPr>
              <a:spcBef>
                <a:spcPts val="200"/>
              </a:spcBef>
              <a:defRPr sz="1100">
                <a:solidFill>
                  <a:srgbClr val="94A3B8"/>
                </a:solidFill>
              </a:defRPr>
            </a:pPr>
            <a:r>
              <a:t>Semantic structure with custom CSS layout styling.</a:t>
            </a:r>
          </a:p>
          <a:p>
            <a:pPr>
              <a:spcBef>
                <a:spcPts val="1400"/>
              </a:spcBef>
              <a:defRPr b="1" sz="1300">
                <a:solidFill>
                  <a:srgbClr val="F8FAFC"/>
                </a:solidFill>
              </a:defRPr>
            </a:pPr>
            <a:r>
              <a:t>▶ JavaScript (ES6+)</a:t>
            </a:r>
          </a:p>
          <a:p>
            <a:pPr>
              <a:spcBef>
                <a:spcPts val="200"/>
              </a:spcBef>
              <a:defRPr sz="1100">
                <a:solidFill>
                  <a:srgbClr val="94A3B8"/>
                </a:solidFill>
              </a:defRPr>
            </a:pPr>
            <a:r>
              <a:t>Dynamic UI interactions and front-end form validation.</a:t>
            </a:r>
          </a:p>
          <a:p>
            <a:pPr>
              <a:spcBef>
                <a:spcPts val="1400"/>
              </a:spcBef>
              <a:defRPr b="1" sz="1300">
                <a:solidFill>
                  <a:srgbClr val="F8FAFC"/>
                </a:solidFill>
              </a:defRPr>
            </a:pPr>
            <a:r>
              <a:t>▶ Responsive Design</a:t>
            </a:r>
          </a:p>
          <a:p>
            <a:pPr>
              <a:spcBef>
                <a:spcPts val="200"/>
              </a:spcBef>
              <a:defRPr sz="1100">
                <a:solidFill>
                  <a:srgbClr val="94A3B8"/>
                </a:solidFill>
              </a:defRPr>
            </a:pPr>
            <a:r>
              <a:t>Mobile-first layouts adaptable to mobile, tablet, and desktop screens.</a:t>
            </a:r>
          </a:p>
        </p:txBody>
      </p:sp>
      <p:sp>
        <p:nvSpPr>
          <p:cNvPr id="6" name="Rectangle 5"/>
          <p:cNvSpPr/>
          <p:nvPr/>
        </p:nvSpPr>
        <p:spPr>
          <a:xfrm>
            <a:off x="4425696" y="1463040"/>
            <a:ext cx="3328416" cy="4663440"/>
          </a:xfrm>
          <a:prstGeom prst="rect">
            <a:avLst/>
          </a:prstGeom>
          <a:solidFill>
            <a:srgbClr val="1E293B"/>
          </a:solidFill>
          <a:ln w="19050">
            <a:solidFill>
              <a:srgbClr val="6366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608576" y="1645920"/>
            <a:ext cx="2962656" cy="4297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1">
                <a:solidFill>
                  <a:srgbClr val="6366F1"/>
                </a:solidFill>
              </a:defRPr>
            </a:pPr>
            <a:r>
              <a:t>BACKEND LAYER</a:t>
            </a:r>
          </a:p>
          <a:p>
            <a:pPr>
              <a:spcBef>
                <a:spcPts val="1400"/>
              </a:spcBef>
              <a:defRPr b="1" sz="1300">
                <a:solidFill>
                  <a:srgbClr val="F8FAFC"/>
                </a:solidFill>
              </a:defRPr>
            </a:pPr>
            <a:r>
              <a:t>▶ Python / Web Server</a:t>
            </a:r>
          </a:p>
          <a:p>
            <a:pPr>
              <a:spcBef>
                <a:spcPts val="200"/>
              </a:spcBef>
              <a:defRPr sz="1100">
                <a:solidFill>
                  <a:srgbClr val="94A3B8"/>
                </a:solidFill>
              </a:defRPr>
            </a:pPr>
            <a:r>
              <a:t>Lightweight backend framework managing HTTP routes &amp; logic.</a:t>
            </a:r>
          </a:p>
          <a:p>
            <a:pPr>
              <a:spcBef>
                <a:spcPts val="1400"/>
              </a:spcBef>
              <a:defRPr b="1" sz="1300">
                <a:solidFill>
                  <a:srgbClr val="F8FAFC"/>
                </a:solidFill>
              </a:defRPr>
            </a:pPr>
            <a:r>
              <a:t>▶ REST API Endpoints</a:t>
            </a:r>
          </a:p>
          <a:p>
            <a:pPr>
              <a:spcBef>
                <a:spcPts val="200"/>
              </a:spcBef>
              <a:defRPr sz="1100">
                <a:solidFill>
                  <a:srgbClr val="94A3B8"/>
                </a:solidFill>
              </a:defRPr>
            </a:pPr>
            <a:r>
              <a:t>API routes handling registration, authentication, and data requests.</a:t>
            </a:r>
          </a:p>
          <a:p>
            <a:pPr>
              <a:spcBef>
                <a:spcPts val="1400"/>
              </a:spcBef>
              <a:defRPr b="1" sz="1300">
                <a:solidFill>
                  <a:srgbClr val="F8FAFC"/>
                </a:solidFill>
              </a:defRPr>
            </a:pPr>
            <a:r>
              <a:t>▶ Session &amp; Security</a:t>
            </a:r>
          </a:p>
          <a:p>
            <a:pPr>
              <a:spcBef>
                <a:spcPts val="200"/>
              </a:spcBef>
              <a:defRPr sz="1100">
                <a:solidFill>
                  <a:srgbClr val="94A3B8"/>
                </a:solidFill>
              </a:defRPr>
            </a:pPr>
            <a:r>
              <a:t>User session persistence and secure request routing.</a:t>
            </a:r>
          </a:p>
        </p:txBody>
      </p:sp>
      <p:sp>
        <p:nvSpPr>
          <p:cNvPr id="8" name="Rectangle 7"/>
          <p:cNvSpPr/>
          <p:nvPr/>
        </p:nvSpPr>
        <p:spPr>
          <a:xfrm>
            <a:off x="8119872" y="1463040"/>
            <a:ext cx="3328416" cy="4663440"/>
          </a:xfrm>
          <a:prstGeom prst="rect">
            <a:avLst/>
          </a:prstGeom>
          <a:solidFill>
            <a:srgbClr val="1E293B"/>
          </a:solidFill>
          <a:ln w="19050">
            <a:solidFill>
              <a:srgbClr val="06B6D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302752" y="1645920"/>
            <a:ext cx="2962656" cy="4297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1">
                <a:solidFill>
                  <a:srgbClr val="06B6D4"/>
                </a:solidFill>
              </a:defRPr>
            </a:pPr>
            <a:r>
              <a:t>CLOUD &amp; DATABASE</a:t>
            </a:r>
          </a:p>
          <a:p>
            <a:pPr>
              <a:spcBef>
                <a:spcPts val="1400"/>
              </a:spcBef>
              <a:defRPr b="1" sz="1300">
                <a:solidFill>
                  <a:srgbClr val="F8FAFC"/>
                </a:solidFill>
              </a:defRPr>
            </a:pPr>
            <a:r>
              <a:t>▶ Render PaaS Deployment</a:t>
            </a:r>
          </a:p>
          <a:p>
            <a:pPr>
              <a:spcBef>
                <a:spcPts val="200"/>
              </a:spcBef>
              <a:defRPr sz="1100">
                <a:solidFill>
                  <a:srgbClr val="94A3B8"/>
                </a:solidFill>
              </a:defRPr>
            </a:pPr>
            <a:r>
              <a:t>Automated deployment pipeline with cloud infrastructure.</a:t>
            </a:r>
          </a:p>
          <a:p>
            <a:pPr>
              <a:spcBef>
                <a:spcPts val="1400"/>
              </a:spcBef>
              <a:defRPr b="1" sz="1300">
                <a:solidFill>
                  <a:srgbClr val="F8FAFC"/>
                </a:solidFill>
              </a:defRPr>
            </a:pPr>
            <a:r>
              <a:t>▶ Database Storage</a:t>
            </a:r>
          </a:p>
          <a:p>
            <a:pPr>
              <a:spcBef>
                <a:spcPts val="200"/>
              </a:spcBef>
              <a:defRPr sz="1100">
                <a:solidFill>
                  <a:srgbClr val="94A3B8"/>
                </a:solidFill>
              </a:defRPr>
            </a:pPr>
            <a:r>
              <a:t>Database engine managing user profiles and site state.</a:t>
            </a:r>
          </a:p>
          <a:p>
            <a:pPr>
              <a:spcBef>
                <a:spcPts val="1400"/>
              </a:spcBef>
              <a:defRPr b="1" sz="1300">
                <a:solidFill>
                  <a:srgbClr val="F8FAFC"/>
                </a:solidFill>
              </a:defRPr>
            </a:pPr>
            <a:r>
              <a:t>▶ HTTPS Protocol</a:t>
            </a:r>
          </a:p>
          <a:p>
            <a:pPr>
              <a:spcBef>
                <a:spcPts val="200"/>
              </a:spcBef>
              <a:defRPr sz="1100">
                <a:solidFill>
                  <a:srgbClr val="94A3B8"/>
                </a:solidFill>
              </a:defRPr>
            </a:pPr>
            <a:r>
              <a:t>Secure end-to-end communication via SSL/TLS.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698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1">
                <a:solidFill>
                  <a:srgbClr val="06B6D4"/>
                </a:solidFill>
                <a:latin typeface="Calibri"/>
              </a:defRPr>
            </a:pPr>
            <a:r>
              <a:t>EXPLORELOCAL PROJECT PRESENTATION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640080"/>
            <a:ext cx="106984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F8FAFC"/>
                </a:solidFill>
                <a:latin typeface="Calibri"/>
              </a:defRPr>
            </a:pPr>
            <a:r>
              <a:t>3. Key Features &amp; Modules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1463040"/>
            <a:ext cx="5212080" cy="1371600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60120" y="1600200"/>
            <a:ext cx="475488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 b="1">
                <a:solidFill>
                  <a:srgbClr val="06B6D4"/>
                </a:solidFill>
              </a:defRPr>
            </a:pPr>
            <a:r>
              <a:t>🔐 Account Authentication</a:t>
            </a:r>
          </a:p>
          <a:p>
            <a:pPr>
              <a:spcBef>
                <a:spcPts val="400"/>
              </a:spcBef>
              <a:defRPr sz="1100">
                <a:solidFill>
                  <a:srgbClr val="F8FAFC"/>
                </a:solidFill>
              </a:defRPr>
            </a:pPr>
            <a:r>
              <a:t>Secure login and signup workflows (`/signup`, `/login`) for traveler registration.</a:t>
            </a:r>
          </a:p>
        </p:txBody>
      </p:sp>
      <p:sp>
        <p:nvSpPr>
          <p:cNvPr id="6" name="Rectangle 5"/>
          <p:cNvSpPr/>
          <p:nvPr/>
        </p:nvSpPr>
        <p:spPr>
          <a:xfrm>
            <a:off x="6309360" y="1463040"/>
            <a:ext cx="5212080" cy="1371600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537960" y="1600200"/>
            <a:ext cx="475488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 b="1">
                <a:solidFill>
                  <a:srgbClr val="06B6D4"/>
                </a:solidFill>
              </a:defRPr>
            </a:pPr>
            <a:r>
              <a:t>📍 Intellectual Spot Discovery</a:t>
            </a:r>
          </a:p>
          <a:p>
            <a:pPr>
              <a:spcBef>
                <a:spcPts val="400"/>
              </a:spcBef>
              <a:defRPr sz="1100">
                <a:solidFill>
                  <a:srgbClr val="F8FAFC"/>
                </a:solidFill>
              </a:defRPr>
            </a:pPr>
            <a:r>
              <a:t>Explore curated destinations focused on local heritage, literature, and history.</a:t>
            </a:r>
          </a:p>
        </p:txBody>
      </p:sp>
      <p:sp>
        <p:nvSpPr>
          <p:cNvPr id="8" name="Rectangle 7"/>
          <p:cNvSpPr/>
          <p:nvPr/>
        </p:nvSpPr>
        <p:spPr>
          <a:xfrm>
            <a:off x="731520" y="3063240"/>
            <a:ext cx="5212080" cy="1371600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60120" y="3200400"/>
            <a:ext cx="475488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 b="1">
                <a:solidFill>
                  <a:srgbClr val="06B6D4"/>
                </a:solidFill>
              </a:defRPr>
            </a:pPr>
            <a:r>
              <a:t>📱 Modern Responsive UI</a:t>
            </a:r>
          </a:p>
          <a:p>
            <a:pPr>
              <a:spcBef>
                <a:spcPts val="400"/>
              </a:spcBef>
              <a:defRPr sz="1100">
                <a:solidFill>
                  <a:srgbClr val="F8FAFC"/>
                </a:solidFill>
              </a:defRPr>
            </a:pPr>
            <a:r>
              <a:t>Clean visual styling with responsive cards, forms, and header navigation.</a:t>
            </a:r>
          </a:p>
        </p:txBody>
      </p:sp>
      <p:sp>
        <p:nvSpPr>
          <p:cNvPr id="10" name="Rectangle 9"/>
          <p:cNvSpPr/>
          <p:nvPr/>
        </p:nvSpPr>
        <p:spPr>
          <a:xfrm>
            <a:off x="6309360" y="3063240"/>
            <a:ext cx="5212080" cy="1371600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537960" y="3200400"/>
            <a:ext cx="475488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 b="1">
                <a:solidFill>
                  <a:srgbClr val="06B6D4"/>
                </a:solidFill>
              </a:defRPr>
            </a:pPr>
            <a:r>
              <a:t>🌐 24/7 Cloud Deployment</a:t>
            </a:r>
          </a:p>
          <a:p>
            <a:pPr>
              <a:spcBef>
                <a:spcPts val="400"/>
              </a:spcBef>
              <a:defRPr sz="1100">
                <a:solidFill>
                  <a:srgbClr val="F8FAFC"/>
                </a:solidFill>
              </a:defRPr>
            </a:pPr>
            <a:r>
              <a:t>Hosted live on Render platform (`explorelocal-avns.onrender.com`).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731520" y="4663440"/>
            <a:ext cx="5212080" cy="1371600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60120" y="4800600"/>
            <a:ext cx="475488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 b="1">
                <a:solidFill>
                  <a:srgbClr val="06B6D4"/>
                </a:solidFill>
              </a:defRPr>
            </a:pPr>
            <a:r>
              <a:t>⚡ Fast Response Times</a:t>
            </a:r>
          </a:p>
          <a:p>
            <a:pPr>
              <a:spcBef>
                <a:spcPts val="400"/>
              </a:spcBef>
              <a:defRPr sz="1100">
                <a:solidFill>
                  <a:srgbClr val="F8FAFC"/>
                </a:solidFill>
              </a:defRPr>
            </a:pPr>
            <a:r>
              <a:t>Optimized routing and lightweight web assets for quick page loading.</a:t>
            </a:r>
          </a:p>
        </p:txBody>
      </p:sp>
      <p:sp>
        <p:nvSpPr>
          <p:cNvPr id="14" name="Rectangle 13"/>
          <p:cNvSpPr/>
          <p:nvPr/>
        </p:nvSpPr>
        <p:spPr>
          <a:xfrm>
            <a:off x="6309360" y="4663440"/>
            <a:ext cx="5212080" cy="1371600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537960" y="4800600"/>
            <a:ext cx="475488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 b="1">
                <a:solidFill>
                  <a:srgbClr val="06B6D4"/>
                </a:solidFill>
              </a:defRPr>
            </a:pPr>
            <a:r>
              <a:t>🛡️ Robust Error Handling</a:t>
            </a:r>
          </a:p>
          <a:p>
            <a:pPr>
              <a:spcBef>
                <a:spcPts val="400"/>
              </a:spcBef>
              <a:defRPr sz="1100">
                <a:solidFill>
                  <a:srgbClr val="F8FAFC"/>
                </a:solidFill>
              </a:defRPr>
            </a:pPr>
            <a:r>
              <a:t>User-friendly input handling, error banners, and form feedback.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698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1">
                <a:solidFill>
                  <a:srgbClr val="06B6D4"/>
                </a:solidFill>
                <a:latin typeface="Calibri"/>
              </a:defRPr>
            </a:pPr>
            <a:r>
              <a:t>EXPLORELOCAL PROJECT PRESENTATION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640080"/>
            <a:ext cx="106984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F8FAFC"/>
                </a:solidFill>
                <a:latin typeface="Calibri"/>
              </a:defRPr>
            </a:pPr>
            <a:r>
              <a:t>4. User Workflow &amp; Execution Flow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1463040"/>
            <a:ext cx="1993392" cy="4663440"/>
          </a:xfrm>
          <a:prstGeom prst="rect">
            <a:avLst/>
          </a:prstGeom>
          <a:solidFill>
            <a:srgbClr val="1E293B"/>
          </a:solidFill>
          <a:ln w="19050">
            <a:solidFill>
              <a:srgbClr val="06B6D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68680" y="1645920"/>
            <a:ext cx="1719072" cy="4297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06B6D4"/>
                </a:solidFill>
              </a:defRPr>
            </a:pPr>
            <a:r>
              <a:t>STEP 01</a:t>
            </a:r>
          </a:p>
          <a:p>
            <a:pPr>
              <a:spcBef>
                <a:spcPts val="800"/>
              </a:spcBef>
              <a:defRPr sz="1500" b="1">
                <a:solidFill>
                  <a:srgbClr val="F8FAFC"/>
                </a:solidFill>
              </a:defRPr>
            </a:pPr>
            <a:r>
              <a:t>Access Web App</a:t>
            </a:r>
          </a:p>
          <a:p>
            <a:pPr>
              <a:spcBef>
                <a:spcPts val="1200"/>
              </a:spcBef>
              <a:defRPr sz="1100">
                <a:solidFill>
                  <a:srgbClr val="94A3B8"/>
                </a:solidFill>
              </a:defRPr>
            </a:pPr>
            <a:r>
              <a:t>Traveler opens https://explorelocal-avns.onrender.com/ in browser.</a:t>
            </a:r>
          </a:p>
        </p:txBody>
      </p:sp>
      <p:sp>
        <p:nvSpPr>
          <p:cNvPr id="6" name="Rectangle 5"/>
          <p:cNvSpPr/>
          <p:nvPr/>
        </p:nvSpPr>
        <p:spPr>
          <a:xfrm>
            <a:off x="2907792" y="1463040"/>
            <a:ext cx="1993392" cy="4663440"/>
          </a:xfrm>
          <a:prstGeom prst="rect">
            <a:avLst/>
          </a:prstGeom>
          <a:solidFill>
            <a:srgbClr val="1E293B"/>
          </a:solidFill>
          <a:ln w="19050">
            <a:solidFill>
              <a:srgbClr val="6366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3044952" y="1645920"/>
            <a:ext cx="1719072" cy="4297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06B6D4"/>
                </a:solidFill>
              </a:defRPr>
            </a:pPr>
            <a:r>
              <a:t>STEP 02</a:t>
            </a:r>
          </a:p>
          <a:p>
            <a:pPr>
              <a:spcBef>
                <a:spcPts val="800"/>
              </a:spcBef>
              <a:defRPr sz="1500" b="1">
                <a:solidFill>
                  <a:srgbClr val="F8FAFC"/>
                </a:solidFill>
              </a:defRPr>
            </a:pPr>
            <a:r>
              <a:t>User Registration</a:t>
            </a:r>
          </a:p>
          <a:p>
            <a:pPr>
              <a:spcBef>
                <a:spcPts val="1200"/>
              </a:spcBef>
              <a:defRPr sz="1100">
                <a:solidFill>
                  <a:srgbClr val="94A3B8"/>
                </a:solidFill>
              </a:defRPr>
            </a:pPr>
            <a:r>
              <a:t>New traveler signs up or logs into account via `/signup`.</a:t>
            </a:r>
          </a:p>
        </p:txBody>
      </p:sp>
      <p:sp>
        <p:nvSpPr>
          <p:cNvPr id="8" name="Rectangle 7"/>
          <p:cNvSpPr/>
          <p:nvPr/>
        </p:nvSpPr>
        <p:spPr>
          <a:xfrm>
            <a:off x="5084064" y="1463040"/>
            <a:ext cx="1993392" cy="4663440"/>
          </a:xfrm>
          <a:prstGeom prst="rect">
            <a:avLst/>
          </a:prstGeom>
          <a:solidFill>
            <a:srgbClr val="1E293B"/>
          </a:solidFill>
          <a:ln w="19050">
            <a:solidFill>
              <a:srgbClr val="06B6D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221224" y="1645920"/>
            <a:ext cx="1719072" cy="4297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06B6D4"/>
                </a:solidFill>
              </a:defRPr>
            </a:pPr>
            <a:r>
              <a:t>STEP 03</a:t>
            </a:r>
          </a:p>
          <a:p>
            <a:pPr>
              <a:spcBef>
                <a:spcPts val="800"/>
              </a:spcBef>
              <a:defRPr sz="1500" b="1">
                <a:solidFill>
                  <a:srgbClr val="F8FAFC"/>
                </a:solidFill>
              </a:defRPr>
            </a:pPr>
            <a:r>
              <a:t>Browse Content</a:t>
            </a:r>
          </a:p>
          <a:p>
            <a:pPr>
              <a:spcBef>
                <a:spcPts val="1200"/>
              </a:spcBef>
              <a:defRPr sz="1100">
                <a:solidFill>
                  <a:srgbClr val="94A3B8"/>
                </a:solidFill>
              </a:defRPr>
            </a:pPr>
            <a:r>
              <a:t>User explores local intellectual spots and travel destinations.</a:t>
            </a:r>
          </a:p>
        </p:txBody>
      </p:sp>
      <p:sp>
        <p:nvSpPr>
          <p:cNvPr id="10" name="Rectangle 9"/>
          <p:cNvSpPr/>
          <p:nvPr/>
        </p:nvSpPr>
        <p:spPr>
          <a:xfrm>
            <a:off x="7260336" y="1463040"/>
            <a:ext cx="1993392" cy="4663440"/>
          </a:xfrm>
          <a:prstGeom prst="rect">
            <a:avLst/>
          </a:prstGeom>
          <a:solidFill>
            <a:srgbClr val="1E293B"/>
          </a:solidFill>
          <a:ln w="19050">
            <a:solidFill>
              <a:srgbClr val="6366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397496" y="1645920"/>
            <a:ext cx="1719072" cy="4297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06B6D4"/>
                </a:solidFill>
              </a:defRPr>
            </a:pPr>
            <a:r>
              <a:t>STEP 04</a:t>
            </a:r>
          </a:p>
          <a:p>
            <a:pPr>
              <a:spcBef>
                <a:spcPts val="800"/>
              </a:spcBef>
              <a:defRPr sz="1500" b="1">
                <a:solidFill>
                  <a:srgbClr val="F8FAFC"/>
                </a:solidFill>
              </a:defRPr>
            </a:pPr>
            <a:r>
              <a:t>Server Logic</a:t>
            </a:r>
          </a:p>
          <a:p>
            <a:pPr>
              <a:spcBef>
                <a:spcPts val="1200"/>
              </a:spcBef>
              <a:defRPr sz="1100">
                <a:solidFill>
                  <a:srgbClr val="94A3B8"/>
                </a:solidFill>
              </a:defRPr>
            </a:pPr>
            <a:r>
              <a:t>Backend processes request, validates credentials, and queries database.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9436608" y="1463040"/>
            <a:ext cx="1993392" cy="4663440"/>
          </a:xfrm>
          <a:prstGeom prst="rect">
            <a:avLst/>
          </a:prstGeom>
          <a:solidFill>
            <a:srgbClr val="1E293B"/>
          </a:solidFill>
          <a:ln w="19050">
            <a:solidFill>
              <a:srgbClr val="06B6D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573768" y="1645920"/>
            <a:ext cx="1719072" cy="4297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06B6D4"/>
                </a:solidFill>
              </a:defRPr>
            </a:pPr>
            <a:r>
              <a:t>STEP 05</a:t>
            </a:r>
          </a:p>
          <a:p>
            <a:pPr>
              <a:spcBef>
                <a:spcPts val="800"/>
              </a:spcBef>
              <a:defRPr sz="1500" b="1">
                <a:solidFill>
                  <a:srgbClr val="F8FAFC"/>
                </a:solidFill>
              </a:defRPr>
            </a:pPr>
            <a:r>
              <a:t>Render Response</a:t>
            </a:r>
          </a:p>
          <a:p>
            <a:pPr>
              <a:spcBef>
                <a:spcPts val="1200"/>
              </a:spcBef>
              <a:defRPr sz="1100">
                <a:solidFill>
                  <a:srgbClr val="94A3B8"/>
                </a:solidFill>
              </a:defRPr>
            </a:pPr>
            <a:r>
              <a:t>Frontend displays interactive views and personalized dashboard.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698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1">
                <a:solidFill>
                  <a:srgbClr val="06B6D4"/>
                </a:solidFill>
                <a:latin typeface="Calibri"/>
              </a:defRPr>
            </a:pPr>
            <a:r>
              <a:t>EXPLORELOCAL PROJECT PRESENTATION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640080"/>
            <a:ext cx="106984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F8FAFC"/>
                </a:solidFill>
                <a:latin typeface="Calibri"/>
              </a:defRPr>
            </a:pPr>
            <a:r>
              <a:t>5. Future Scope &amp; Conclusion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1463040"/>
            <a:ext cx="5212080" cy="4663440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05840" y="1645920"/>
            <a:ext cx="4663440" cy="4297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 b="1">
                <a:solidFill>
                  <a:srgbClr val="06B6D4"/>
                </a:solidFill>
              </a:defRPr>
            </a:pPr>
            <a:r>
              <a:t>🚀 Future Enhancements</a:t>
            </a:r>
          </a:p>
          <a:p>
            <a:pPr>
              <a:spcBef>
                <a:spcPts val="1000"/>
              </a:spcBef>
              <a:defRPr b="1" sz="1200">
                <a:solidFill>
                  <a:srgbClr val="F8FAFC"/>
                </a:solidFill>
              </a:defRPr>
            </a:pPr>
            <a:r>
              <a:t>• AI Destination Engine: </a:t>
            </a:r>
            <a:r>
              <a:rPr b="0">
                <a:solidFill>
                  <a:srgbClr val="94A3B8"/>
                </a:solidFill>
              </a:rPr>
              <a:t>Machine learning recommendations based on traveler preferences.</a:t>
            </a:r>
          </a:p>
          <a:p>
            <a:pPr>
              <a:spcBef>
                <a:spcPts val="1000"/>
              </a:spcBef>
              <a:defRPr b="1" sz="1200">
                <a:solidFill>
                  <a:srgbClr val="F8FAFC"/>
                </a:solidFill>
              </a:defRPr>
            </a:pPr>
            <a:r>
              <a:t>• Interactive Maps: </a:t>
            </a:r>
            <a:r>
              <a:rPr b="0">
                <a:solidFill>
                  <a:srgbClr val="94A3B8"/>
                </a:solidFill>
              </a:rPr>
              <a:t>Embedded Mapbox/Google Maps integration for live route discovery.</a:t>
            </a:r>
          </a:p>
          <a:p>
            <a:pPr>
              <a:spcBef>
                <a:spcPts val="1000"/>
              </a:spcBef>
              <a:defRPr b="1" sz="1200">
                <a:solidFill>
                  <a:srgbClr val="F8FAFC"/>
                </a:solidFill>
              </a:defRPr>
            </a:pPr>
            <a:r>
              <a:t>• Community Travel Guides: </a:t>
            </a:r>
            <a:r>
              <a:rPr b="0">
                <a:solidFill>
                  <a:srgbClr val="94A3B8"/>
                </a:solidFill>
              </a:rPr>
              <a:t>Allow local historians &amp; travelers to post verified recommendations.</a:t>
            </a:r>
          </a:p>
          <a:p>
            <a:pPr>
              <a:spcBef>
                <a:spcPts val="1000"/>
              </a:spcBef>
              <a:defRPr b="1" sz="1200">
                <a:solidFill>
                  <a:srgbClr val="F8FAFC"/>
                </a:solidFill>
              </a:defRPr>
            </a:pPr>
            <a:r>
              <a:t>• Mobile App Release: </a:t>
            </a:r>
            <a:r>
              <a:rPr b="0">
                <a:solidFill>
                  <a:srgbClr val="94A3B8"/>
                </a:solidFill>
              </a:rPr>
              <a:t>Dedicated iOS/Android app with offline travel access.</a:t>
            </a:r>
          </a:p>
        </p:txBody>
      </p:sp>
      <p:sp>
        <p:nvSpPr>
          <p:cNvPr id="6" name="Rectangle 5"/>
          <p:cNvSpPr/>
          <p:nvPr/>
        </p:nvSpPr>
        <p:spPr>
          <a:xfrm>
            <a:off x="6217920" y="1463040"/>
            <a:ext cx="5212080" cy="4663440"/>
          </a:xfrm>
          <a:prstGeom prst="rect">
            <a:avLst/>
          </a:prstGeom>
          <a:solidFill>
            <a:srgbClr val="1E293B"/>
          </a:solidFill>
          <a:ln w="19050">
            <a:solidFill>
              <a:srgbClr val="06B6D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492240" y="1645920"/>
            <a:ext cx="4663440" cy="4297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 b="1">
                <a:solidFill>
                  <a:srgbClr val="06B6D4"/>
                </a:solidFill>
              </a:defRPr>
            </a:pPr>
            <a:r>
              <a:t>🏁 Conclusion &amp; Impact</a:t>
            </a:r>
          </a:p>
          <a:p>
            <a:pPr>
              <a:spcBef>
                <a:spcPts val="1000"/>
              </a:spcBef>
              <a:defRPr b="1" sz="1200">
                <a:solidFill>
                  <a:srgbClr val="F8FAFC"/>
                </a:solidFill>
              </a:defRPr>
            </a:pPr>
            <a:r>
              <a:t>• Meaningful Travel: </a:t>
            </a:r>
            <a:r>
              <a:rPr b="0">
                <a:solidFill>
                  <a:srgbClr val="94A3B8"/>
                </a:solidFill>
              </a:rPr>
              <a:t>ExploreLocal transforms tourism into an enriching intellectual journey.</a:t>
            </a:r>
          </a:p>
          <a:p>
            <a:pPr>
              <a:spcBef>
                <a:spcPts val="1000"/>
              </a:spcBef>
              <a:defRPr b="1" sz="1200">
                <a:solidFill>
                  <a:srgbClr val="F8FAFC"/>
                </a:solidFill>
              </a:defRPr>
            </a:pPr>
            <a:r>
              <a:t>• Cloud Deployment: </a:t>
            </a:r>
            <a:r>
              <a:rPr b="0">
                <a:solidFill>
                  <a:srgbClr val="94A3B8"/>
                </a:solidFill>
              </a:rPr>
              <a:t>Successfully hosted on Render PaaS platform for reliable access.</a:t>
            </a:r>
          </a:p>
          <a:p>
            <a:pPr>
              <a:spcBef>
                <a:spcPts val="1000"/>
              </a:spcBef>
              <a:defRPr b="1" sz="1200">
                <a:solidFill>
                  <a:srgbClr val="F8FAFC"/>
                </a:solidFill>
              </a:defRPr>
            </a:pPr>
            <a:r>
              <a:t>• Scalable Codebase: </a:t>
            </a:r>
            <a:r>
              <a:rPr b="0">
                <a:solidFill>
                  <a:srgbClr val="94A3B8"/>
                </a:solidFill>
              </a:rPr>
              <a:t>Structured web architecture ready for modular expansion.</a:t>
            </a:r>
          </a:p>
          <a:p>
            <a:pPr>
              <a:spcBef>
                <a:spcPts val="1000"/>
              </a:spcBef>
              <a:defRPr b="1" sz="1200">
                <a:solidFill>
                  <a:srgbClr val="F8FAFC"/>
                </a:solidFill>
              </a:defRPr>
            </a:pPr>
            <a:r>
              <a:t>• User Experience: </a:t>
            </a:r>
            <a:r>
              <a:rPr b="0">
                <a:solidFill>
                  <a:srgbClr val="94A3B8"/>
                </a:solidFill>
              </a:rPr>
              <a:t>Delivers a clean, intuitive platform for local spot discovery.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